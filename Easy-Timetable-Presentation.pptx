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today I want to show you Easy Timetable, a small web app I built to solve a scheduling problem I kept running into personally: classic timetables force you to pin an exact start time to every task, and real life doesn't work that way. Let's walk through the problem, how it works, some of the code behind it, why it's worth using, and where it could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classic timetable tools make you pin an exact clock time to every single task. But most people don't actually think that way — they know roughly when they're FREE, not exactly when each task should start. Every time something shifts, you're manually re-arranging blocks. Easy Timetable flips the input: you tell it your free gaps, and it does the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just three steps. Step one, you block out when you're free — not what you're doing, just when you're available, per weekday. Step two, you list tasks with a flexible min-to-max duration instead of one fixed length, plus optional due dates. Step three, you set priority order and a placement style, and the app generates a full week preview for you, with a fit banner that warns you up front if something can't actually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it, from src/week-plan/preview-plan.js. Free time is modeled as a flat list of segments. Every 'style' the user picks — Balanced, Compact, Spread, Deep-first — is really just a different sort order over the same candidate segments: compact picks the earliest snug slot, deep-first grabs the longest open block, spread avoids reusing the same gap twice. Once a task is placed, the leftover time on either side is pushed back into the segment list, so the rest of the day still fills correctly. It's all pure functions — no DOM — which is exactly why it's fully unit-tested.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bother? First, it's genuinely local-first — no sign-up, no server, your schedule never leaves your machine, and it still opens offline thanks to a service worker. Second, the feedback loop is immediate: you see the week fill up live, and the fit banner tells you up front when something is mathematically impossible, with a shortcut back to the step that needs fixing. Third, your data is portable — export and import as plain JSON, keep named profiles per term or exam week. And it's accessible out of the box: text scaling, reduced motion, high-contrast focus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tell this is a scheduler just by scanning the folder names — that's intentional, it's what's called a screaming architecture. Gaps, tasks, and week-plan are the domain logic, export turns a plan into a real calendar file or text, and there's a single UI adapter that wires everything into the page. Because the domain logic doesn't touch the DOM, it's all covered by fast unit tests — gap merging, placement, and the fit diagnostics you saw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domain logic is already decoupled from the UI, most of these are additive, not rewrites. Two natural next steps: two-way calendar sync so changes made in Google or Outlook flow back in, and recurring tasks so you're not re-entering the same study block every week. Beyond that — an installable PWA, shareable read-only links for study groups, drag-to-resize blocks on the grid itself, and eventually a smarter auto-scheduler that learns from how you usually adjust the generated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Easy Timetable: a local-first tool that turns 'here's when I'm free' into a full week plan, built on small, well-tested pure functions so it's easy to extend. Thanks —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2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1826"/>
          </a:solidFill>
          <a:ln/>
        </p:spPr>
      </p:sp>
      <p:sp>
        <p:nvSpPr>
          <p:cNvPr id="3" name="Shape 1"/>
          <p:cNvSpPr/>
          <p:nvPr/>
        </p:nvSpPr>
        <p:spPr>
          <a:xfrm>
            <a:off x="0" y="4480560"/>
            <a:ext cx="12191695" cy="54864"/>
          </a:xfrm>
          <a:prstGeom prst="rect">
            <a:avLst/>
          </a:prstGeom>
          <a:solidFill>
            <a:srgbClr val="5DD0B0"/>
          </a:solidFill>
          <a:ln/>
        </p:spPr>
      </p:sp>
      <p:sp>
        <p:nvSpPr>
          <p:cNvPr id="4" name="Text 2"/>
          <p:cNvSpPr/>
          <p:nvPr/>
        </p:nvSpPr>
        <p:spPr>
          <a:xfrm>
            <a:off x="731520" y="2286000"/>
            <a:ext cx="10698480" cy="1097280"/>
          </a:xfrm>
          <a:prstGeom prst="rect">
            <a:avLst/>
          </a:prstGeom>
          <a:noFill/>
          <a:ln/>
        </p:spPr>
        <p:txBody>
          <a:bodyPr wrap="square" rtlCol="0" anchor="ctr"/>
          <a:lstStyle/>
          <a:p>
            <a:pPr indent="0" marL="0">
              <a:buNone/>
            </a:pPr>
            <a:r>
              <a:rPr lang="en-US" sz="5400" b="1" dirty="0">
                <a:solidFill>
                  <a:srgbClr val="E8EBF2"/>
                </a:solidFill>
                <a:latin typeface="Calibri" pitchFamily="34" charset="0"/>
                <a:ea typeface="Calibri" pitchFamily="34" charset="-122"/>
                <a:cs typeface="Calibri" pitchFamily="34" charset="-120"/>
              </a:rPr>
              <a:t>EASY TIMETABLE</a:t>
            </a:r>
            <a:endParaRPr lang="en-US" sz="5400" dirty="0"/>
          </a:p>
        </p:txBody>
      </p:sp>
      <p:sp>
        <p:nvSpPr>
          <p:cNvPr id="5" name="Text 3"/>
          <p:cNvSpPr/>
          <p:nvPr/>
        </p:nvSpPr>
        <p:spPr>
          <a:xfrm>
            <a:off x="731520" y="3291840"/>
            <a:ext cx="10698480" cy="640080"/>
          </a:xfrm>
          <a:prstGeom prst="rect">
            <a:avLst/>
          </a:prstGeom>
          <a:noFill/>
          <a:ln/>
        </p:spPr>
        <p:txBody>
          <a:bodyPr wrap="square" rtlCol="0" anchor="ctr"/>
          <a:lstStyle/>
          <a:p>
            <a:pPr indent="0" marL="0">
              <a:buNone/>
            </a:pPr>
            <a:r>
              <a:rPr lang="en-US" sz="2000" dirty="0">
                <a:solidFill>
                  <a:srgbClr val="9AA5B8"/>
                </a:solidFill>
                <a:latin typeface="Calibri" pitchFamily="34" charset="0"/>
                <a:ea typeface="Calibri" pitchFamily="34" charset="-122"/>
                <a:cs typeface="Calibri" pitchFamily="34" charset="-120"/>
              </a:rPr>
              <a:t>Plan a full week around the free time you actually have</a:t>
            </a:r>
            <a:endParaRPr lang="en-US" sz="2000" dirty="0"/>
          </a:p>
        </p:txBody>
      </p:sp>
      <p:sp>
        <p:nvSpPr>
          <p:cNvPr id="6" name="Text 4"/>
          <p:cNvSpPr/>
          <p:nvPr/>
        </p:nvSpPr>
        <p:spPr>
          <a:xfrm>
            <a:off x="731520" y="4709160"/>
            <a:ext cx="10698480" cy="457200"/>
          </a:xfrm>
          <a:prstGeom prst="rect">
            <a:avLst/>
          </a:prstGeom>
          <a:noFill/>
          <a:ln/>
        </p:spPr>
        <p:txBody>
          <a:bodyPr wrap="square" rtlCol="0" anchor="ctr"/>
          <a:lstStyle/>
          <a:p>
            <a:pPr indent="0" marL="0">
              <a:buNone/>
            </a:pPr>
            <a:r>
              <a:rPr lang="en-US" sz="1400" b="1" dirty="0">
                <a:solidFill>
                  <a:srgbClr val="6C8CFF"/>
                </a:solidFill>
                <a:latin typeface="Calibri" pitchFamily="34" charset="0"/>
                <a:ea typeface="Calibri" pitchFamily="34" charset="-122"/>
                <a:cs typeface="Calibri" pitchFamily="34" charset="-120"/>
              </a:rPr>
              <a:t>A local-first, no-account weekly scheduler  ·  4-minute overview</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826"/>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400" b="1" spc="200" kern="0" dirty="0">
                <a:solidFill>
                  <a:srgbClr val="5DD0B0"/>
                </a:solidFill>
                <a:latin typeface="Calibri" pitchFamily="34" charset="0"/>
                <a:ea typeface="Calibri" pitchFamily="34" charset="-122"/>
                <a:cs typeface="Calibri" pitchFamily="34" charset="-120"/>
              </a:rPr>
              <a:t>THE PROBLEM</a:t>
            </a:r>
            <a:endParaRPr lang="en-US" sz="14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400" b="1" dirty="0">
                <a:solidFill>
                  <a:srgbClr val="E8EBF2"/>
                </a:solidFill>
                <a:latin typeface="Calibri" pitchFamily="34" charset="0"/>
                <a:ea typeface="Calibri" pitchFamily="34" charset="-122"/>
                <a:cs typeface="Calibri" pitchFamily="34" charset="-120"/>
              </a:rPr>
              <a:t>Classic timetables assume a rigid world</a:t>
            </a:r>
            <a:endParaRPr lang="en-US" sz="3400" dirty="0"/>
          </a:p>
        </p:txBody>
      </p:sp>
      <p:sp>
        <p:nvSpPr>
          <p:cNvPr id="4" name="Shape 2"/>
          <p:cNvSpPr/>
          <p:nvPr/>
        </p:nvSpPr>
        <p:spPr>
          <a:xfrm>
            <a:off x="640080" y="1847088"/>
            <a:ext cx="128016" cy="128016"/>
          </a:xfrm>
          <a:prstGeom prst="ellipse">
            <a:avLst/>
          </a:prstGeom>
          <a:solidFill>
            <a:srgbClr val="6C8CFF"/>
          </a:solidFill>
          <a:ln/>
        </p:spPr>
      </p:sp>
      <p:sp>
        <p:nvSpPr>
          <p:cNvPr id="5" name="Text 3"/>
          <p:cNvSpPr/>
          <p:nvPr/>
        </p:nvSpPr>
        <p:spPr>
          <a:xfrm>
            <a:off x="960120" y="1737360"/>
            <a:ext cx="10058400" cy="365760"/>
          </a:xfrm>
          <a:prstGeom prst="rect">
            <a:avLst/>
          </a:prstGeom>
          <a:noFill/>
          <a:ln/>
        </p:spPr>
        <p:txBody>
          <a:bodyPr wrap="square" rtlCol="0" anchor="ctr"/>
          <a:lstStyle/>
          <a:p>
            <a:pPr indent="0" marL="0">
              <a:buNone/>
            </a:pPr>
            <a:r>
              <a:rPr lang="en-US" sz="1800" b="1" dirty="0">
                <a:solidFill>
                  <a:srgbClr val="E8EBF2"/>
                </a:solidFill>
                <a:latin typeface="Calibri" pitchFamily="34" charset="0"/>
                <a:ea typeface="Calibri" pitchFamily="34" charset="-122"/>
                <a:cs typeface="Calibri" pitchFamily="34" charset="-120"/>
              </a:rPr>
              <a:t>Every task needs a fixed start time</a:t>
            </a:r>
            <a:endParaRPr lang="en-US" sz="1800" dirty="0"/>
          </a:p>
        </p:txBody>
      </p:sp>
      <p:sp>
        <p:nvSpPr>
          <p:cNvPr id="6" name="Text 4"/>
          <p:cNvSpPr/>
          <p:nvPr/>
        </p:nvSpPr>
        <p:spPr>
          <a:xfrm>
            <a:off x="960120" y="2121408"/>
            <a:ext cx="10058400" cy="411480"/>
          </a:xfrm>
          <a:prstGeom prst="rect">
            <a:avLst/>
          </a:prstGeom>
          <a:noFill/>
          <a:ln/>
        </p:spPr>
        <p:txBody>
          <a:bodyPr wrap="square" rtlCol="0" anchor="ctr"/>
          <a:lstStyle/>
          <a:p>
            <a:pPr indent="0" marL="0">
              <a:buNone/>
            </a:pPr>
            <a:r>
              <a:rPr lang="en-US" sz="1400" dirty="0">
                <a:solidFill>
                  <a:srgbClr val="9AA5B8"/>
                </a:solidFill>
                <a:latin typeface="Calibri" pitchFamily="34" charset="0"/>
                <a:ea typeface="Calibri" pitchFamily="34" charset="-122"/>
                <a:cs typeface="Calibri" pitchFamily="34" charset="-120"/>
              </a:rPr>
              <a:t>Pick 14:00 for study block, 16:30 for gym... but plans shift daily.</a:t>
            </a:r>
            <a:endParaRPr lang="en-US" sz="1400" dirty="0"/>
          </a:p>
        </p:txBody>
      </p:sp>
      <p:sp>
        <p:nvSpPr>
          <p:cNvPr id="7" name="Shape 5"/>
          <p:cNvSpPr/>
          <p:nvPr/>
        </p:nvSpPr>
        <p:spPr>
          <a:xfrm>
            <a:off x="640080" y="2898648"/>
            <a:ext cx="128016" cy="128016"/>
          </a:xfrm>
          <a:prstGeom prst="ellipse">
            <a:avLst/>
          </a:prstGeom>
          <a:solidFill>
            <a:srgbClr val="6C8CFF"/>
          </a:solidFill>
          <a:ln/>
        </p:spPr>
      </p:sp>
      <p:sp>
        <p:nvSpPr>
          <p:cNvPr id="8" name="Text 6"/>
          <p:cNvSpPr/>
          <p:nvPr/>
        </p:nvSpPr>
        <p:spPr>
          <a:xfrm>
            <a:off x="960120" y="2788920"/>
            <a:ext cx="10058400" cy="365760"/>
          </a:xfrm>
          <a:prstGeom prst="rect">
            <a:avLst/>
          </a:prstGeom>
          <a:noFill/>
          <a:ln/>
        </p:spPr>
        <p:txBody>
          <a:bodyPr wrap="square" rtlCol="0" anchor="ctr"/>
          <a:lstStyle/>
          <a:p>
            <a:pPr indent="0" marL="0">
              <a:buNone/>
            </a:pPr>
            <a:r>
              <a:rPr lang="en-US" sz="1800" b="1" dirty="0">
                <a:solidFill>
                  <a:srgbClr val="E8EBF2"/>
                </a:solidFill>
                <a:latin typeface="Calibri" pitchFamily="34" charset="0"/>
                <a:ea typeface="Calibri" pitchFamily="34" charset="-122"/>
                <a:cs typeface="Calibri" pitchFamily="34" charset="-120"/>
              </a:rPr>
              <a:t>Life isn't a fixed grid</a:t>
            </a:r>
            <a:endParaRPr lang="en-US" sz="1800" dirty="0"/>
          </a:p>
        </p:txBody>
      </p:sp>
      <p:sp>
        <p:nvSpPr>
          <p:cNvPr id="9" name="Text 7"/>
          <p:cNvSpPr/>
          <p:nvPr/>
        </p:nvSpPr>
        <p:spPr>
          <a:xfrm>
            <a:off x="960120" y="3172968"/>
            <a:ext cx="10058400" cy="411480"/>
          </a:xfrm>
          <a:prstGeom prst="rect">
            <a:avLst/>
          </a:prstGeom>
          <a:noFill/>
          <a:ln/>
        </p:spPr>
        <p:txBody>
          <a:bodyPr wrap="square" rtlCol="0" anchor="ctr"/>
          <a:lstStyle/>
          <a:p>
            <a:pPr indent="0" marL="0">
              <a:buNone/>
            </a:pPr>
            <a:r>
              <a:rPr lang="en-US" sz="1400" dirty="0">
                <a:solidFill>
                  <a:srgbClr val="9AA5B8"/>
                </a:solidFill>
                <a:latin typeface="Calibri" pitchFamily="34" charset="0"/>
                <a:ea typeface="Calibri" pitchFamily="34" charset="-122"/>
                <a:cs typeface="Calibri" pitchFamily="34" charset="-120"/>
              </a:rPr>
              <a:t>Students, freelancers and side-project builders have different free windows every day.</a:t>
            </a:r>
            <a:endParaRPr lang="en-US" sz="1400" dirty="0"/>
          </a:p>
        </p:txBody>
      </p:sp>
      <p:sp>
        <p:nvSpPr>
          <p:cNvPr id="10" name="Shape 8"/>
          <p:cNvSpPr/>
          <p:nvPr/>
        </p:nvSpPr>
        <p:spPr>
          <a:xfrm>
            <a:off x="640080" y="3950208"/>
            <a:ext cx="128016" cy="128016"/>
          </a:xfrm>
          <a:prstGeom prst="ellipse">
            <a:avLst/>
          </a:prstGeom>
          <a:solidFill>
            <a:srgbClr val="6C8CFF"/>
          </a:solidFill>
          <a:ln/>
        </p:spPr>
      </p:sp>
      <p:sp>
        <p:nvSpPr>
          <p:cNvPr id="11" name="Text 9"/>
          <p:cNvSpPr/>
          <p:nvPr/>
        </p:nvSpPr>
        <p:spPr>
          <a:xfrm>
            <a:off x="960120" y="3840480"/>
            <a:ext cx="10058400" cy="365760"/>
          </a:xfrm>
          <a:prstGeom prst="rect">
            <a:avLst/>
          </a:prstGeom>
          <a:noFill/>
          <a:ln/>
        </p:spPr>
        <p:txBody>
          <a:bodyPr wrap="square" rtlCol="0" anchor="ctr"/>
          <a:lstStyle/>
          <a:p>
            <a:pPr indent="0" marL="0">
              <a:buNone/>
            </a:pPr>
            <a:r>
              <a:rPr lang="en-US" sz="1800" b="1" dirty="0">
                <a:solidFill>
                  <a:srgbClr val="E8EBF2"/>
                </a:solidFill>
                <a:latin typeface="Calibri" pitchFamily="34" charset="0"/>
                <a:ea typeface="Calibri" pitchFamily="34" charset="-122"/>
                <a:cs typeface="Calibri" pitchFamily="34" charset="-120"/>
              </a:rPr>
              <a:t>Re-planning is tedious</a:t>
            </a:r>
            <a:endParaRPr lang="en-US" sz="1800" dirty="0"/>
          </a:p>
        </p:txBody>
      </p:sp>
      <p:sp>
        <p:nvSpPr>
          <p:cNvPr id="12" name="Text 10"/>
          <p:cNvSpPr/>
          <p:nvPr/>
        </p:nvSpPr>
        <p:spPr>
          <a:xfrm>
            <a:off x="960120" y="4224528"/>
            <a:ext cx="10058400" cy="411480"/>
          </a:xfrm>
          <a:prstGeom prst="rect">
            <a:avLst/>
          </a:prstGeom>
          <a:noFill/>
          <a:ln/>
        </p:spPr>
        <p:txBody>
          <a:bodyPr wrap="square" rtlCol="0" anchor="ctr"/>
          <a:lstStyle/>
          <a:p>
            <a:pPr indent="0" marL="0">
              <a:buNone/>
            </a:pPr>
            <a:r>
              <a:rPr lang="en-US" sz="1400" dirty="0">
                <a:solidFill>
                  <a:srgbClr val="9AA5B8"/>
                </a:solidFill>
                <a:latin typeface="Calibri" pitchFamily="34" charset="0"/>
                <a:ea typeface="Calibri" pitchFamily="34" charset="-122"/>
                <a:cs typeface="Calibri" pitchFamily="34" charset="-120"/>
              </a:rPr>
              <a:t>One change (a class moves, a meeting runs long) and the whole day's timetable needs rebuilding by hand.</a:t>
            </a:r>
            <a:endParaRPr lang="en-US" sz="1400" dirty="0"/>
          </a:p>
        </p:txBody>
      </p:sp>
      <p:sp>
        <p:nvSpPr>
          <p:cNvPr id="13" name="Shape 11"/>
          <p:cNvSpPr/>
          <p:nvPr/>
        </p:nvSpPr>
        <p:spPr>
          <a:xfrm>
            <a:off x="640080" y="5001768"/>
            <a:ext cx="128016" cy="128016"/>
          </a:xfrm>
          <a:prstGeom prst="ellipse">
            <a:avLst/>
          </a:prstGeom>
          <a:solidFill>
            <a:srgbClr val="6C8CFF"/>
          </a:solidFill>
          <a:ln/>
        </p:spPr>
      </p:sp>
      <p:sp>
        <p:nvSpPr>
          <p:cNvPr id="14" name="Text 12"/>
          <p:cNvSpPr/>
          <p:nvPr/>
        </p:nvSpPr>
        <p:spPr>
          <a:xfrm>
            <a:off x="960120" y="4892040"/>
            <a:ext cx="10058400" cy="365760"/>
          </a:xfrm>
          <a:prstGeom prst="rect">
            <a:avLst/>
          </a:prstGeom>
          <a:noFill/>
          <a:ln/>
        </p:spPr>
        <p:txBody>
          <a:bodyPr wrap="square" rtlCol="0" anchor="ctr"/>
          <a:lstStyle/>
          <a:p>
            <a:pPr indent="0" marL="0">
              <a:buNone/>
            </a:pPr>
            <a:r>
              <a:rPr lang="en-US" sz="1800" b="1" dirty="0">
                <a:solidFill>
                  <a:srgbClr val="E8EBF2"/>
                </a:solidFill>
                <a:latin typeface="Calibri" pitchFamily="34" charset="0"/>
                <a:ea typeface="Calibri" pitchFamily="34" charset="-122"/>
                <a:cs typeface="Calibri" pitchFamily="34" charset="-120"/>
              </a:rPr>
              <a:t>Most planners need accounts / cloud sync</a:t>
            </a:r>
            <a:endParaRPr lang="en-US" sz="1800" dirty="0"/>
          </a:p>
        </p:txBody>
      </p:sp>
      <p:sp>
        <p:nvSpPr>
          <p:cNvPr id="15" name="Text 13"/>
          <p:cNvSpPr/>
          <p:nvPr/>
        </p:nvSpPr>
        <p:spPr>
          <a:xfrm>
            <a:off x="960120" y="5276088"/>
            <a:ext cx="10058400" cy="411480"/>
          </a:xfrm>
          <a:prstGeom prst="rect">
            <a:avLst/>
          </a:prstGeom>
          <a:noFill/>
          <a:ln/>
        </p:spPr>
        <p:txBody>
          <a:bodyPr wrap="square" rtlCol="0" anchor="ctr"/>
          <a:lstStyle/>
          <a:p>
            <a:pPr indent="0" marL="0">
              <a:buNone/>
            </a:pPr>
            <a:r>
              <a:rPr lang="en-US" sz="1400" dirty="0">
                <a:solidFill>
                  <a:srgbClr val="9AA5B8"/>
                </a:solidFill>
                <a:latin typeface="Calibri" pitchFamily="34" charset="0"/>
                <a:ea typeface="Calibri" pitchFamily="34" charset="-122"/>
                <a:cs typeface="Calibri" pitchFamily="34" charset="-120"/>
              </a:rPr>
              <a:t>Overkill for someone who just wants to sketch out a week.</a:t>
            </a:r>
            <a:endParaRPr lang="en-US" sz="1400" dirty="0"/>
          </a:p>
        </p:txBody>
      </p:sp>
      <p:sp>
        <p:nvSpPr>
          <p:cNvPr id="16" name="Text 14"/>
          <p:cNvSpPr/>
          <p:nvPr/>
        </p:nvSpPr>
        <p:spPr>
          <a:xfrm>
            <a:off x="548640" y="6537960"/>
            <a:ext cx="3657600" cy="274320"/>
          </a:xfrm>
          <a:prstGeom prst="rect">
            <a:avLst/>
          </a:prstGeom>
          <a:noFill/>
          <a:ln/>
        </p:spPr>
        <p:txBody>
          <a:bodyPr wrap="square" rtlCol="0" anchor="ctr"/>
          <a:lstStyle/>
          <a:p>
            <a:pPr indent="0" marL="0">
              <a:buNone/>
            </a:pPr>
            <a:r>
              <a:rPr lang="en-US" sz="1000" dirty="0">
                <a:solidFill>
                  <a:srgbClr val="9AA5B8"/>
                </a:solidFill>
                <a:latin typeface="Calibri" pitchFamily="34" charset="0"/>
                <a:ea typeface="Calibri" pitchFamily="34" charset="-122"/>
                <a:cs typeface="Calibri" pitchFamily="34" charset="-120"/>
              </a:rPr>
              <a:t>Easy Timetable</a:t>
            </a:r>
            <a:endParaRPr lang="en-US" sz="1000" dirty="0"/>
          </a:p>
        </p:txBody>
      </p:sp>
      <p:sp>
        <p:nvSpPr>
          <p:cNvPr id="17" name="Text 15"/>
          <p:cNvSpPr/>
          <p:nvPr/>
        </p:nvSpPr>
        <p:spPr>
          <a:xfrm>
            <a:off x="11612880" y="6537960"/>
            <a:ext cx="365760" cy="274320"/>
          </a:xfrm>
          <a:prstGeom prst="rect">
            <a:avLst/>
          </a:prstGeom>
          <a:noFill/>
          <a:ln/>
        </p:spPr>
        <p:txBody>
          <a:bodyPr wrap="square" rtlCol="0" anchor="ctr"/>
          <a:lstStyle/>
          <a:p>
            <a:pPr algn="r" indent="0" marL="0">
              <a:buNone/>
            </a:pPr>
            <a:r>
              <a:rPr lang="en-US" sz="1000" dirty="0">
                <a:solidFill>
                  <a:srgbClr val="9AA5B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826"/>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400" b="1" spc="200" kern="0" dirty="0">
                <a:solidFill>
                  <a:srgbClr val="5DD0B0"/>
                </a:solidFill>
                <a:latin typeface="Calibri" pitchFamily="34" charset="0"/>
                <a:ea typeface="Calibri" pitchFamily="34" charset="-122"/>
                <a:cs typeface="Calibri" pitchFamily="34" charset="-120"/>
              </a:rPr>
              <a:t>THE SOLUTION</a:t>
            </a:r>
            <a:endParaRPr lang="en-US" sz="14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400" b="1" dirty="0">
                <a:solidFill>
                  <a:srgbClr val="E8EBF2"/>
                </a:solidFill>
                <a:latin typeface="Calibri" pitchFamily="34" charset="0"/>
                <a:ea typeface="Calibri" pitchFamily="34" charset="-122"/>
                <a:cs typeface="Calibri" pitchFamily="34" charset="-120"/>
              </a:rPr>
              <a:t>Three steps: Time → Tasks → Plan</a:t>
            </a:r>
            <a:endParaRPr lang="en-US" sz="3400" dirty="0"/>
          </a:p>
        </p:txBody>
      </p:sp>
      <p:sp>
        <p:nvSpPr>
          <p:cNvPr id="4" name="Shape 2"/>
          <p:cNvSpPr/>
          <p:nvPr/>
        </p:nvSpPr>
        <p:spPr>
          <a:xfrm>
            <a:off x="548640" y="1737360"/>
            <a:ext cx="3566160" cy="3566160"/>
          </a:xfrm>
          <a:prstGeom prst="roundRect">
            <a:avLst>
              <a:gd name="adj" fmla="val 2051"/>
            </a:avLst>
          </a:prstGeom>
          <a:solidFill>
            <a:srgbClr val="1B2436"/>
          </a:solidFill>
          <a:ln w="12700">
            <a:solidFill>
              <a:srgbClr val="5DD0B0"/>
            </a:solidFill>
            <a:prstDash val="solid"/>
          </a:ln>
        </p:spPr>
      </p:sp>
      <p:sp>
        <p:nvSpPr>
          <p:cNvPr id="5" name="Shape 3"/>
          <p:cNvSpPr/>
          <p:nvPr/>
        </p:nvSpPr>
        <p:spPr>
          <a:xfrm>
            <a:off x="548640" y="1737360"/>
            <a:ext cx="3566160" cy="73152"/>
          </a:xfrm>
          <a:prstGeom prst="rect">
            <a:avLst/>
          </a:prstGeom>
          <a:solidFill>
            <a:srgbClr val="5DD0B0"/>
          </a:solidFill>
          <a:ln/>
        </p:spPr>
      </p:sp>
      <p:sp>
        <p:nvSpPr>
          <p:cNvPr id="6" name="Text 4"/>
          <p:cNvSpPr/>
          <p:nvPr/>
        </p:nvSpPr>
        <p:spPr>
          <a:xfrm>
            <a:off x="777240" y="1965960"/>
            <a:ext cx="3108960" cy="457200"/>
          </a:xfrm>
          <a:prstGeom prst="rect">
            <a:avLst/>
          </a:prstGeom>
          <a:noFill/>
          <a:ln/>
        </p:spPr>
        <p:txBody>
          <a:bodyPr wrap="square" rtlCol="0" anchor="ctr"/>
          <a:lstStyle/>
          <a:p>
            <a:pPr indent="0" marL="0">
              <a:buNone/>
            </a:pPr>
            <a:r>
              <a:rPr lang="en-US" sz="2000" b="1" dirty="0">
                <a:solidFill>
                  <a:srgbClr val="E8EBF2"/>
                </a:solidFill>
                <a:latin typeface="Calibri" pitchFamily="34" charset="0"/>
                <a:ea typeface="Calibri" pitchFamily="34" charset="-122"/>
                <a:cs typeface="Calibri" pitchFamily="34" charset="-120"/>
              </a:rPr>
              <a:t>1. Time</a:t>
            </a:r>
            <a:endParaRPr lang="en-US" sz="2000" dirty="0"/>
          </a:p>
        </p:txBody>
      </p:sp>
      <p:sp>
        <p:nvSpPr>
          <p:cNvPr id="7" name="Text 5"/>
          <p:cNvSpPr/>
          <p:nvPr/>
        </p:nvSpPr>
        <p:spPr>
          <a:xfrm>
            <a:off x="777240" y="2468880"/>
            <a:ext cx="3108960" cy="2651760"/>
          </a:xfrm>
          <a:prstGeom prst="rect">
            <a:avLst/>
          </a:prstGeom>
          <a:noFill/>
          <a:ln/>
        </p:spPr>
        <p:txBody>
          <a:bodyPr wrap="square" rtlCol="0" anchor="t"/>
          <a:lstStyle/>
          <a:p>
            <a:pPr indent="0" marL="0">
              <a:buNone/>
            </a:pPr>
            <a:r>
              <a:rPr lang="en-US" sz="1350" dirty="0">
                <a:solidFill>
                  <a:srgbClr val="9AA5B8"/>
                </a:solidFill>
                <a:latin typeface="Calibri" pitchFamily="34" charset="0"/>
                <a:ea typeface="Calibri" pitchFamily="34" charset="-122"/>
                <a:cs typeface="Calibri" pitchFamily="34" charset="-120"/>
              </a:rPr>
              <a:t>Enter free-time gaps per weekday (Mon–Sun), or start from a template (school blocks, 9–5 + lunch, morning focus). Copy gaps between days.</a:t>
            </a:r>
            <a:endParaRPr lang="en-US" sz="1350" dirty="0"/>
          </a:p>
        </p:txBody>
      </p:sp>
      <p:sp>
        <p:nvSpPr>
          <p:cNvPr id="8" name="Shape 6"/>
          <p:cNvSpPr/>
          <p:nvPr/>
        </p:nvSpPr>
        <p:spPr>
          <a:xfrm>
            <a:off x="4434840" y="1737360"/>
            <a:ext cx="3566160" cy="3566160"/>
          </a:xfrm>
          <a:prstGeom prst="roundRect">
            <a:avLst>
              <a:gd name="adj" fmla="val 2051"/>
            </a:avLst>
          </a:prstGeom>
          <a:solidFill>
            <a:srgbClr val="1B2436"/>
          </a:solidFill>
          <a:ln w="12700">
            <a:solidFill>
              <a:srgbClr val="6C8CFF"/>
            </a:solidFill>
            <a:prstDash val="solid"/>
          </a:ln>
        </p:spPr>
      </p:sp>
      <p:sp>
        <p:nvSpPr>
          <p:cNvPr id="9" name="Shape 7"/>
          <p:cNvSpPr/>
          <p:nvPr/>
        </p:nvSpPr>
        <p:spPr>
          <a:xfrm>
            <a:off x="4434840" y="1737360"/>
            <a:ext cx="3566160" cy="73152"/>
          </a:xfrm>
          <a:prstGeom prst="rect">
            <a:avLst/>
          </a:prstGeom>
          <a:solidFill>
            <a:srgbClr val="6C8CFF"/>
          </a:solidFill>
          <a:ln/>
        </p:spPr>
      </p:sp>
      <p:sp>
        <p:nvSpPr>
          <p:cNvPr id="10" name="Text 8"/>
          <p:cNvSpPr/>
          <p:nvPr/>
        </p:nvSpPr>
        <p:spPr>
          <a:xfrm>
            <a:off x="4663440" y="1965960"/>
            <a:ext cx="3108960" cy="457200"/>
          </a:xfrm>
          <a:prstGeom prst="rect">
            <a:avLst/>
          </a:prstGeom>
          <a:noFill/>
          <a:ln/>
        </p:spPr>
        <p:txBody>
          <a:bodyPr wrap="square" rtlCol="0" anchor="ctr"/>
          <a:lstStyle/>
          <a:p>
            <a:pPr indent="0" marL="0">
              <a:buNone/>
            </a:pPr>
            <a:r>
              <a:rPr lang="en-US" sz="2000" b="1" dirty="0">
                <a:solidFill>
                  <a:srgbClr val="E8EBF2"/>
                </a:solidFill>
                <a:latin typeface="Calibri" pitchFamily="34" charset="0"/>
                <a:ea typeface="Calibri" pitchFamily="34" charset="-122"/>
                <a:cs typeface="Calibri" pitchFamily="34" charset="-120"/>
              </a:rPr>
              <a:t>2. Tasks</a:t>
            </a:r>
            <a:endParaRPr lang="en-US" sz="2000" dirty="0"/>
          </a:p>
        </p:txBody>
      </p:sp>
      <p:sp>
        <p:nvSpPr>
          <p:cNvPr id="11" name="Text 9"/>
          <p:cNvSpPr/>
          <p:nvPr/>
        </p:nvSpPr>
        <p:spPr>
          <a:xfrm>
            <a:off x="4663440" y="2468880"/>
            <a:ext cx="3108960" cy="2651760"/>
          </a:xfrm>
          <a:prstGeom prst="rect">
            <a:avLst/>
          </a:prstGeom>
          <a:noFill/>
          <a:ln/>
        </p:spPr>
        <p:txBody>
          <a:bodyPr wrap="square" rtlCol="0" anchor="t"/>
          <a:lstStyle/>
          <a:p>
            <a:pPr indent="0" marL="0">
              <a:buNone/>
            </a:pPr>
            <a:r>
              <a:rPr lang="en-US" sz="1350" dirty="0">
                <a:solidFill>
                  <a:srgbClr val="9AA5B8"/>
                </a:solidFill>
                <a:latin typeface="Calibri" pitchFamily="34" charset="0"/>
                <a:ea typeface="Calibri" pitchFamily="34" charset="-122"/>
                <a:cs typeface="Calibri" pitchFamily="34" charset="-120"/>
              </a:rPr>
              <a:t>Add a task name, optional due date, and a min–max minutes range per session. One shared list applies across the whole week.</a:t>
            </a:r>
            <a:endParaRPr lang="en-US" sz="1350" dirty="0"/>
          </a:p>
        </p:txBody>
      </p:sp>
      <p:sp>
        <p:nvSpPr>
          <p:cNvPr id="12" name="Shape 10"/>
          <p:cNvSpPr/>
          <p:nvPr/>
        </p:nvSpPr>
        <p:spPr>
          <a:xfrm>
            <a:off x="8321040" y="1737360"/>
            <a:ext cx="3566160" cy="3566160"/>
          </a:xfrm>
          <a:prstGeom prst="roundRect">
            <a:avLst>
              <a:gd name="adj" fmla="val 2051"/>
            </a:avLst>
          </a:prstGeom>
          <a:solidFill>
            <a:srgbClr val="1B2436"/>
          </a:solidFill>
          <a:ln w="12700">
            <a:solidFill>
              <a:srgbClr val="F2B84B"/>
            </a:solidFill>
            <a:prstDash val="solid"/>
          </a:ln>
        </p:spPr>
      </p:sp>
      <p:sp>
        <p:nvSpPr>
          <p:cNvPr id="13" name="Shape 11"/>
          <p:cNvSpPr/>
          <p:nvPr/>
        </p:nvSpPr>
        <p:spPr>
          <a:xfrm>
            <a:off x="8321040" y="1737360"/>
            <a:ext cx="3566160" cy="73152"/>
          </a:xfrm>
          <a:prstGeom prst="rect">
            <a:avLst/>
          </a:prstGeom>
          <a:solidFill>
            <a:srgbClr val="F2B84B"/>
          </a:solidFill>
          <a:ln/>
        </p:spPr>
      </p:sp>
      <p:sp>
        <p:nvSpPr>
          <p:cNvPr id="14" name="Text 12"/>
          <p:cNvSpPr/>
          <p:nvPr/>
        </p:nvSpPr>
        <p:spPr>
          <a:xfrm>
            <a:off x="8549640" y="1965960"/>
            <a:ext cx="3108960" cy="457200"/>
          </a:xfrm>
          <a:prstGeom prst="rect">
            <a:avLst/>
          </a:prstGeom>
          <a:noFill/>
          <a:ln/>
        </p:spPr>
        <p:txBody>
          <a:bodyPr wrap="square" rtlCol="0" anchor="ctr"/>
          <a:lstStyle/>
          <a:p>
            <a:pPr indent="0" marL="0">
              <a:buNone/>
            </a:pPr>
            <a:r>
              <a:rPr lang="en-US" sz="2000" b="1" dirty="0">
                <a:solidFill>
                  <a:srgbClr val="E8EBF2"/>
                </a:solidFill>
                <a:latin typeface="Calibri" pitchFamily="34" charset="0"/>
                <a:ea typeface="Calibri" pitchFamily="34" charset="-122"/>
                <a:cs typeface="Calibri" pitchFamily="34" charset="-120"/>
              </a:rPr>
              <a:t>3. Plan</a:t>
            </a:r>
            <a:endParaRPr lang="en-US" sz="2000" dirty="0"/>
          </a:p>
        </p:txBody>
      </p:sp>
      <p:sp>
        <p:nvSpPr>
          <p:cNvPr id="15" name="Text 13"/>
          <p:cNvSpPr/>
          <p:nvPr/>
        </p:nvSpPr>
        <p:spPr>
          <a:xfrm>
            <a:off x="8549640" y="2468880"/>
            <a:ext cx="3108960" cy="2651760"/>
          </a:xfrm>
          <a:prstGeom prst="rect">
            <a:avLst/>
          </a:prstGeom>
          <a:noFill/>
          <a:ln/>
        </p:spPr>
        <p:txBody>
          <a:bodyPr wrap="square" rtlCol="0" anchor="t"/>
          <a:lstStyle/>
          <a:p>
            <a:pPr indent="0" marL="0">
              <a:buNone/>
            </a:pPr>
            <a:r>
              <a:rPr lang="en-US" sz="1350" dirty="0">
                <a:solidFill>
                  <a:srgbClr val="9AA5B8"/>
                </a:solidFill>
                <a:latin typeface="Calibri" pitchFamily="34" charset="0"/>
                <a:ea typeface="Calibri" pitchFamily="34" charset="-122"/>
                <a:cs typeface="Calibri" pitchFamily="34" charset="-120"/>
              </a:rPr>
              <a:t>Drag to prioritize. Choose a style — Balanced, Compact, Spread, or Deep first — and the app fits tasks into your gaps automatically.</a:t>
            </a:r>
            <a:endParaRPr lang="en-US" sz="1350" dirty="0"/>
          </a:p>
        </p:txBody>
      </p:sp>
      <p:sp>
        <p:nvSpPr>
          <p:cNvPr id="16" name="Text 14"/>
          <p:cNvSpPr/>
          <p:nvPr/>
        </p:nvSpPr>
        <p:spPr>
          <a:xfrm>
            <a:off x="548640" y="5486400"/>
            <a:ext cx="11064240" cy="731520"/>
          </a:xfrm>
          <a:prstGeom prst="rect">
            <a:avLst/>
          </a:prstGeom>
          <a:noFill/>
          <a:ln/>
        </p:spPr>
        <p:txBody>
          <a:bodyPr wrap="square" rtlCol="0" anchor="ctr"/>
          <a:lstStyle/>
          <a:p>
            <a:pPr indent="0" marL="0">
              <a:buNone/>
            </a:pPr>
            <a:r>
              <a:rPr lang="en-US" sz="1500" i="1" dirty="0">
                <a:solidFill>
                  <a:srgbClr val="5DD0B0"/>
                </a:solidFill>
                <a:latin typeface="Calibri" pitchFamily="34" charset="0"/>
                <a:ea typeface="Calibri" pitchFamily="34" charset="-122"/>
                <a:cs typeface="Calibri" pitchFamily="34" charset="-120"/>
              </a:rPr>
              <a:t>Result: a live 7-day preview (green = free, blue = scheduled tasks) with a fit banner that flags what won't fit — before you commit to it.</a:t>
            </a:r>
            <a:endParaRPr lang="en-US" sz="1500" dirty="0"/>
          </a:p>
        </p:txBody>
      </p:sp>
      <p:sp>
        <p:nvSpPr>
          <p:cNvPr id="17" name="Text 15"/>
          <p:cNvSpPr/>
          <p:nvPr/>
        </p:nvSpPr>
        <p:spPr>
          <a:xfrm>
            <a:off x="548640" y="6537960"/>
            <a:ext cx="3657600" cy="274320"/>
          </a:xfrm>
          <a:prstGeom prst="rect">
            <a:avLst/>
          </a:prstGeom>
          <a:noFill/>
          <a:ln/>
        </p:spPr>
        <p:txBody>
          <a:bodyPr wrap="square" rtlCol="0" anchor="ctr"/>
          <a:lstStyle/>
          <a:p>
            <a:pPr indent="0" marL="0">
              <a:buNone/>
            </a:pPr>
            <a:r>
              <a:rPr lang="en-US" sz="1000" dirty="0">
                <a:solidFill>
                  <a:srgbClr val="9AA5B8"/>
                </a:solidFill>
                <a:latin typeface="Calibri" pitchFamily="34" charset="0"/>
                <a:ea typeface="Calibri" pitchFamily="34" charset="-122"/>
                <a:cs typeface="Calibri" pitchFamily="34" charset="-120"/>
              </a:rPr>
              <a:t>Easy Timetable</a:t>
            </a:r>
            <a:endParaRPr lang="en-US" sz="1000" dirty="0"/>
          </a:p>
        </p:txBody>
      </p:sp>
      <p:sp>
        <p:nvSpPr>
          <p:cNvPr id="18" name="Text 16"/>
          <p:cNvSpPr/>
          <p:nvPr/>
        </p:nvSpPr>
        <p:spPr>
          <a:xfrm>
            <a:off x="11612880" y="6537960"/>
            <a:ext cx="365760" cy="274320"/>
          </a:xfrm>
          <a:prstGeom prst="rect">
            <a:avLst/>
          </a:prstGeom>
          <a:noFill/>
          <a:ln/>
        </p:spPr>
        <p:txBody>
          <a:bodyPr wrap="square" rtlCol="0" anchor="ctr"/>
          <a:lstStyle/>
          <a:p>
            <a:pPr algn="r" indent="0" marL="0">
              <a:buNone/>
            </a:pPr>
            <a:r>
              <a:rPr lang="en-US" sz="1000" dirty="0">
                <a:solidFill>
                  <a:srgbClr val="9AA5B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826"/>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400" b="1" spc="200" kern="0" dirty="0">
                <a:solidFill>
                  <a:srgbClr val="5DD0B0"/>
                </a:solidFill>
                <a:latin typeface="Calibri" pitchFamily="34" charset="0"/>
                <a:ea typeface="Calibri" pitchFamily="34" charset="-122"/>
                <a:cs typeface="Calibri" pitchFamily="34" charset="-120"/>
              </a:rPr>
              <a:t>UNDER THE HOOD</a:t>
            </a:r>
            <a:endParaRPr lang="en-US" sz="14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400" b="1" dirty="0">
                <a:solidFill>
                  <a:srgbClr val="E8EBF2"/>
                </a:solidFill>
                <a:latin typeface="Calibri" pitchFamily="34" charset="0"/>
                <a:ea typeface="Calibri" pitchFamily="34" charset="-122"/>
                <a:cs typeface="Calibri" pitchFamily="34" charset="-120"/>
              </a:rPr>
              <a:t>The placement algorithm, in ~15 lines</a:t>
            </a:r>
            <a:endParaRPr lang="en-US" sz="3400" dirty="0"/>
          </a:p>
        </p:txBody>
      </p:sp>
      <p:sp>
        <p:nvSpPr>
          <p:cNvPr id="4" name="Shape 2"/>
          <p:cNvSpPr/>
          <p:nvPr/>
        </p:nvSpPr>
        <p:spPr>
          <a:xfrm>
            <a:off x="548640" y="1600200"/>
            <a:ext cx="6949440" cy="4480560"/>
          </a:xfrm>
          <a:prstGeom prst="roundRect">
            <a:avLst>
              <a:gd name="adj" fmla="val 1224"/>
            </a:avLst>
          </a:prstGeom>
          <a:solidFill>
            <a:srgbClr val="0D1420"/>
          </a:solidFill>
          <a:ln w="12700">
            <a:solidFill>
              <a:srgbClr val="2A3550"/>
            </a:solidFill>
            <a:prstDash val="solid"/>
          </a:ln>
        </p:spPr>
      </p:sp>
      <p:sp>
        <p:nvSpPr>
          <p:cNvPr id="5" name="Text 3"/>
          <p:cNvSpPr/>
          <p:nvPr/>
        </p:nvSpPr>
        <p:spPr>
          <a:xfrm>
            <a:off x="822960" y="1783080"/>
            <a:ext cx="6400800" cy="4114800"/>
          </a:xfrm>
          <a:prstGeom prst="rect">
            <a:avLst/>
          </a:prstGeom>
          <a:noFill/>
          <a:ln/>
        </p:spPr>
        <p:txBody>
          <a:bodyPr wrap="square" rtlCol="0" anchor="t"/>
          <a:lstStyle/>
          <a:p>
            <a:pPr indent="0" marL="0">
              <a:lnSpc>
                <a:spcPct val="125000"/>
              </a:lnSpc>
              <a:buNone/>
            </a:pPr>
            <a:r>
              <a:rPr lang="en-US" sz="1300" dirty="0">
                <a:solidFill>
                  <a:srgbClr val="6C8CFF"/>
                </a:solidFill>
                <a:latin typeface="Consolas" pitchFamily="34" charset="0"/>
                <a:ea typeface="Consolas" pitchFamily="34" charset="-122"/>
                <a:cs typeface="Consolas" pitchFamily="34" charset="-120"/>
              </a:rPr>
              <a:t>function chooseSegmentIndex(segments, duration, style) {</a:t>
            </a:r>
            <a:pPr indent="0" marL="0">
              <a:lnSpc>
                <a:spcPct val="125000"/>
              </a:lnSpc>
              <a:buNone/>
            </a:pPr>
            <a:r>
              <a:rPr lang="en-US" sz="1300" dirty="0">
                <a:solidFill>
                  <a:srgbClr val="E8EBF2"/>
                </a:solidFill>
                <a:latin typeface="Consolas" pitchFamily="34" charset="0"/>
                <a:ea typeface="Consolas" pitchFamily="34" charset="-122"/>
                <a:cs typeface="Consolas" pitchFamily="34" charset="-120"/>
              </a:rPr>
              <a:t>  const candidates = segments</a:t>
            </a:r>
            <a:pPr indent="0" marL="0">
              <a:lnSpc>
                <a:spcPct val="125000"/>
              </a:lnSpc>
              <a:buNone/>
            </a:pPr>
            <a:r>
              <a:rPr lang="en-US" sz="1300" dirty="0">
                <a:solidFill>
                  <a:srgbClr val="E8EBF2"/>
                </a:solidFill>
                <a:latin typeface="Consolas" pitchFamily="34" charset="0"/>
                <a:ea typeface="Consolas" pitchFamily="34" charset="-122"/>
                <a:cs typeface="Consolas" pitchFamily="34" charset="-120"/>
              </a:rPr>
              <a:t>    .filter(seg =&gt; seg.length &gt;= duration);</a:t>
            </a:r>
            <a:pPr indent="0" marL="0">
              <a:lnSpc>
                <a:spcPct val="125000"/>
              </a:lnSpc>
              <a:buNone/>
            </a:pPr>
            <a:pPr indent="0" marL="0">
              <a:lnSpc>
                <a:spcPct val="125000"/>
              </a:lnSpc>
              <a:buNone/>
            </a:pPr>
            <a:r>
              <a:rPr lang="en-US" sz="1300" i="1" dirty="0">
                <a:solidFill>
                  <a:srgbClr val="9AA5B8"/>
                </a:solidFill>
                <a:latin typeface="Consolas" pitchFamily="34" charset="0"/>
                <a:ea typeface="Consolas" pitchFamily="34" charset="-122"/>
                <a:cs typeface="Consolas" pitchFamily="34" charset="-120"/>
              </a:rPr>
              <a:t>  if (style === "compact") // earliest, snug fit</a:t>
            </a:r>
            <a:pPr indent="0" marL="0">
              <a:lnSpc>
                <a:spcPct val="125000"/>
              </a:lnSpc>
              <a:buNone/>
            </a:pPr>
            <a:r>
              <a:rPr lang="en-US" sz="1300" dirty="0">
                <a:solidFill>
                  <a:srgbClr val="E8EBF2"/>
                </a:solidFill>
                <a:latin typeface="Consolas" pitchFamily="34" charset="0"/>
                <a:ea typeface="Consolas" pitchFamily="34" charset="-122"/>
                <a:cs typeface="Consolas" pitchFamily="34" charset="-120"/>
              </a:rPr>
              <a:t>    candidates.sort(byStart);</a:t>
            </a:r>
            <a:pPr indent="0" marL="0">
              <a:lnSpc>
                <a:spcPct val="125000"/>
              </a:lnSpc>
              <a:buNone/>
            </a:pPr>
            <a:r>
              <a:rPr lang="en-US" sz="1300" i="1" dirty="0">
                <a:solidFill>
                  <a:srgbClr val="9AA5B8"/>
                </a:solidFill>
                <a:latin typeface="Consolas" pitchFamily="34" charset="0"/>
                <a:ea typeface="Consolas" pitchFamily="34" charset="-122"/>
                <a:cs typeface="Consolas" pitchFamily="34" charset="-120"/>
              </a:rPr>
              <a:t>  if (style === "deep")   // longest open block first</a:t>
            </a:r>
            <a:pPr indent="0" marL="0">
              <a:lnSpc>
                <a:spcPct val="125000"/>
              </a:lnSpc>
              <a:buNone/>
            </a:pPr>
            <a:r>
              <a:rPr lang="en-US" sz="1300" dirty="0">
                <a:solidFill>
                  <a:srgbClr val="E8EBF2"/>
                </a:solidFill>
                <a:latin typeface="Consolas" pitchFamily="34" charset="0"/>
                <a:ea typeface="Consolas" pitchFamily="34" charset="-122"/>
                <a:cs typeface="Consolas" pitchFamily="34" charset="-120"/>
              </a:rPr>
              <a:t>    candidates.sort(byLength);</a:t>
            </a:r>
            <a:pPr indent="0" marL="0">
              <a:lnSpc>
                <a:spcPct val="125000"/>
              </a:lnSpc>
              <a:buNone/>
            </a:pPr>
            <a:r>
              <a:rPr lang="en-US" sz="1300" i="1" dirty="0">
                <a:solidFill>
                  <a:srgbClr val="9AA5B8"/>
                </a:solidFill>
                <a:latin typeface="Consolas" pitchFamily="34" charset="0"/>
                <a:ea typeface="Consolas" pitchFamily="34" charset="-122"/>
                <a:cs typeface="Consolas" pitchFamily="34" charset="-120"/>
              </a:rPr>
              <a:t>  if (style === "spread")  // least-used gap first</a:t>
            </a:r>
            <a:pPr indent="0" marL="0">
              <a:lnSpc>
                <a:spcPct val="125000"/>
              </a:lnSpc>
              <a:buNone/>
            </a:pPr>
            <a:r>
              <a:rPr lang="en-US" sz="1300" dirty="0">
                <a:solidFill>
                  <a:srgbClr val="E8EBF2"/>
                </a:solidFill>
                <a:latin typeface="Consolas" pitchFamily="34" charset="0"/>
                <a:ea typeface="Consolas" pitchFamily="34" charset="-122"/>
                <a:cs typeface="Consolas" pitchFamily="34" charset="-120"/>
              </a:rPr>
              <a:t>    candidates.sort(byGapUsage);</a:t>
            </a:r>
            <a:pPr indent="0" marL="0">
              <a:lnSpc>
                <a:spcPct val="125000"/>
              </a:lnSpc>
              <a:buNone/>
            </a:pPr>
            <a:pPr indent="0" marL="0">
              <a:lnSpc>
                <a:spcPct val="125000"/>
              </a:lnSpc>
              <a:buNone/>
            </a:pPr>
            <a:r>
              <a:rPr lang="en-US" sz="1300" dirty="0">
                <a:solidFill>
                  <a:srgbClr val="5DD0B0"/>
                </a:solidFill>
                <a:latin typeface="Consolas" pitchFamily="34" charset="0"/>
                <a:ea typeface="Consolas" pitchFamily="34" charset="-122"/>
                <a:cs typeface="Consolas" pitchFamily="34" charset="-120"/>
              </a:rPr>
              <a:t>  return candidates[0]?.index ?? -1;</a:t>
            </a:r>
            <a:pPr indent="0" marL="0">
              <a:lnSpc>
                <a:spcPct val="125000"/>
              </a:lnSpc>
              <a:buNone/>
            </a:pPr>
            <a:r>
              <a:rPr lang="en-US" sz="1300" dirty="0">
                <a:solidFill>
                  <a:srgbClr val="6C8CFF"/>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7818120" y="1783080"/>
            <a:ext cx="3840480" cy="320040"/>
          </a:xfrm>
          <a:prstGeom prst="rect">
            <a:avLst/>
          </a:prstGeom>
          <a:noFill/>
          <a:ln/>
        </p:spPr>
        <p:txBody>
          <a:bodyPr wrap="square" rtlCol="0" anchor="ctr"/>
          <a:lstStyle/>
          <a:p>
            <a:pPr indent="0" marL="0">
              <a:buNone/>
            </a:pPr>
            <a:r>
              <a:rPr lang="en-US" sz="1400" b="1" dirty="0">
                <a:solidFill>
                  <a:srgbClr val="5DD0B0"/>
                </a:solidFill>
                <a:latin typeface="Calibri" pitchFamily="34" charset="0"/>
                <a:ea typeface="Calibri" pitchFamily="34" charset="-122"/>
                <a:cs typeface="Calibri" pitchFamily="34" charset="-120"/>
              </a:rPr>
              <a:t>Pure, testable functions</a:t>
            </a:r>
            <a:endParaRPr lang="en-US" sz="1400" dirty="0"/>
          </a:p>
        </p:txBody>
      </p:sp>
      <p:sp>
        <p:nvSpPr>
          <p:cNvPr id="7" name="Text 5"/>
          <p:cNvSpPr/>
          <p:nvPr/>
        </p:nvSpPr>
        <p:spPr>
          <a:xfrm>
            <a:off x="7818120" y="2103120"/>
            <a:ext cx="3840480" cy="777240"/>
          </a:xfrm>
          <a:prstGeom prst="rect">
            <a:avLst/>
          </a:prstGeom>
          <a:noFill/>
          <a:ln/>
        </p:spPr>
        <p:txBody>
          <a:bodyPr wrap="square" rtlCol="0" anchor="ctr"/>
          <a:lstStyle/>
          <a:p>
            <a:pPr indent="0" marL="0">
              <a:buNone/>
            </a:pPr>
            <a:r>
              <a:rPr lang="en-US" sz="1150" dirty="0">
                <a:solidFill>
                  <a:srgbClr val="9AA5B8"/>
                </a:solidFill>
                <a:latin typeface="Calibri" pitchFamily="34" charset="0"/>
                <a:ea typeface="Calibri" pitchFamily="34" charset="-122"/>
                <a:cs typeface="Calibri" pitchFamily="34" charset="-120"/>
              </a:rPr>
              <a:t>Free-time gaps are treated as a list of shrinkable segments — no DOM, no state, just arrays in/out.</a:t>
            </a:r>
            <a:endParaRPr lang="en-US" sz="1150" dirty="0"/>
          </a:p>
        </p:txBody>
      </p:sp>
      <p:sp>
        <p:nvSpPr>
          <p:cNvPr id="8" name="Text 6"/>
          <p:cNvSpPr/>
          <p:nvPr/>
        </p:nvSpPr>
        <p:spPr>
          <a:xfrm>
            <a:off x="7818120" y="2880360"/>
            <a:ext cx="3840480" cy="320040"/>
          </a:xfrm>
          <a:prstGeom prst="rect">
            <a:avLst/>
          </a:prstGeom>
          <a:noFill/>
          <a:ln/>
        </p:spPr>
        <p:txBody>
          <a:bodyPr wrap="square" rtlCol="0" anchor="ctr"/>
          <a:lstStyle/>
          <a:p>
            <a:pPr indent="0" marL="0">
              <a:buNone/>
            </a:pPr>
            <a:r>
              <a:rPr lang="en-US" sz="1400" b="1" dirty="0">
                <a:solidFill>
                  <a:srgbClr val="5DD0B0"/>
                </a:solidFill>
                <a:latin typeface="Calibri" pitchFamily="34" charset="0"/>
                <a:ea typeface="Calibri" pitchFamily="34" charset="-122"/>
                <a:cs typeface="Calibri" pitchFamily="34" charset="-120"/>
              </a:rPr>
              <a:t>One function per style</a:t>
            </a:r>
            <a:endParaRPr lang="en-US" sz="1400" dirty="0"/>
          </a:p>
        </p:txBody>
      </p:sp>
      <p:sp>
        <p:nvSpPr>
          <p:cNvPr id="9" name="Text 7"/>
          <p:cNvSpPr/>
          <p:nvPr/>
        </p:nvSpPr>
        <p:spPr>
          <a:xfrm>
            <a:off x="7818120" y="3200400"/>
            <a:ext cx="3840480" cy="777240"/>
          </a:xfrm>
          <a:prstGeom prst="rect">
            <a:avLst/>
          </a:prstGeom>
          <a:noFill/>
          <a:ln/>
        </p:spPr>
        <p:txBody>
          <a:bodyPr wrap="square" rtlCol="0" anchor="ctr"/>
          <a:lstStyle/>
          <a:p>
            <a:pPr indent="0" marL="0">
              <a:buNone/>
            </a:pPr>
            <a:r>
              <a:rPr lang="en-US" sz="1150" dirty="0">
                <a:solidFill>
                  <a:srgbClr val="9AA5B8"/>
                </a:solidFill>
                <a:latin typeface="Calibri" pitchFamily="34" charset="0"/>
                <a:ea typeface="Calibri" pitchFamily="34" charset="-122"/>
                <a:cs typeface="Calibri" pitchFamily="34" charset="-120"/>
              </a:rPr>
              <a:t>Balanced / Compact / Spread / Deep-first are just different sort heuristics over the same candidate list.</a:t>
            </a:r>
            <a:endParaRPr lang="en-US" sz="1150" dirty="0"/>
          </a:p>
        </p:txBody>
      </p:sp>
      <p:sp>
        <p:nvSpPr>
          <p:cNvPr id="10" name="Text 8"/>
          <p:cNvSpPr/>
          <p:nvPr/>
        </p:nvSpPr>
        <p:spPr>
          <a:xfrm>
            <a:off x="7818120" y="3977640"/>
            <a:ext cx="3840480" cy="320040"/>
          </a:xfrm>
          <a:prstGeom prst="rect">
            <a:avLst/>
          </a:prstGeom>
          <a:noFill/>
          <a:ln/>
        </p:spPr>
        <p:txBody>
          <a:bodyPr wrap="square" rtlCol="0" anchor="ctr"/>
          <a:lstStyle/>
          <a:p>
            <a:pPr indent="0" marL="0">
              <a:buNone/>
            </a:pPr>
            <a:r>
              <a:rPr lang="en-US" sz="1400" b="1" dirty="0">
                <a:solidFill>
                  <a:srgbClr val="5DD0B0"/>
                </a:solidFill>
                <a:latin typeface="Calibri" pitchFamily="34" charset="0"/>
                <a:ea typeface="Calibri" pitchFamily="34" charset="-122"/>
                <a:cs typeface="Calibri" pitchFamily="34" charset="-120"/>
              </a:rPr>
              <a:t>Leftover splitting</a:t>
            </a:r>
            <a:endParaRPr lang="en-US" sz="1400" dirty="0"/>
          </a:p>
        </p:txBody>
      </p:sp>
      <p:sp>
        <p:nvSpPr>
          <p:cNvPr id="11" name="Text 9"/>
          <p:cNvSpPr/>
          <p:nvPr/>
        </p:nvSpPr>
        <p:spPr>
          <a:xfrm>
            <a:off x="7818120" y="4297680"/>
            <a:ext cx="3840480" cy="777240"/>
          </a:xfrm>
          <a:prstGeom prst="rect">
            <a:avLst/>
          </a:prstGeom>
          <a:noFill/>
          <a:ln/>
        </p:spPr>
        <p:txBody>
          <a:bodyPr wrap="square" rtlCol="0" anchor="ctr"/>
          <a:lstStyle/>
          <a:p>
            <a:pPr indent="0" marL="0">
              <a:buNone/>
            </a:pPr>
            <a:r>
              <a:rPr lang="en-US" sz="1150" dirty="0">
                <a:solidFill>
                  <a:srgbClr val="9AA5B8"/>
                </a:solidFill>
                <a:latin typeface="Calibri" pitchFamily="34" charset="0"/>
                <a:ea typeface="Calibri" pitchFamily="34" charset="-122"/>
                <a:cs typeface="Calibri" pitchFamily="34" charset="-120"/>
              </a:rPr>
              <a:t>After a task is placed, the remaining slack on either side is pushed back in as new segments — so gaps refill correctly.</a:t>
            </a:r>
            <a:endParaRPr lang="en-US" sz="1150" dirty="0"/>
          </a:p>
        </p:txBody>
      </p:sp>
      <p:sp>
        <p:nvSpPr>
          <p:cNvPr id="12" name="Text 10"/>
          <p:cNvSpPr/>
          <p:nvPr/>
        </p:nvSpPr>
        <p:spPr>
          <a:xfrm>
            <a:off x="7818120" y="5074920"/>
            <a:ext cx="3840480" cy="320040"/>
          </a:xfrm>
          <a:prstGeom prst="rect">
            <a:avLst/>
          </a:prstGeom>
          <a:noFill/>
          <a:ln/>
        </p:spPr>
        <p:txBody>
          <a:bodyPr wrap="square" rtlCol="0" anchor="ctr"/>
          <a:lstStyle/>
          <a:p>
            <a:pPr indent="0" marL="0">
              <a:buNone/>
            </a:pPr>
            <a:r>
              <a:rPr lang="en-US" sz="1400" b="1" dirty="0">
                <a:solidFill>
                  <a:srgbClr val="5DD0B0"/>
                </a:solidFill>
                <a:latin typeface="Calibri" pitchFamily="34" charset="0"/>
                <a:ea typeface="Calibri" pitchFamily="34" charset="-122"/>
                <a:cs typeface="Calibri" pitchFamily="34" charset="-120"/>
              </a:rPr>
              <a:t>Fit diagnostics run in parallel</a:t>
            </a:r>
            <a:endParaRPr lang="en-US" sz="1400" dirty="0"/>
          </a:p>
        </p:txBody>
      </p:sp>
      <p:sp>
        <p:nvSpPr>
          <p:cNvPr id="13" name="Text 11"/>
          <p:cNvSpPr/>
          <p:nvPr/>
        </p:nvSpPr>
        <p:spPr>
          <a:xfrm>
            <a:off x="7818120" y="5394960"/>
            <a:ext cx="3840480" cy="777240"/>
          </a:xfrm>
          <a:prstGeom prst="rect">
            <a:avLst/>
          </a:prstGeom>
          <a:noFill/>
          <a:ln/>
        </p:spPr>
        <p:txBody>
          <a:bodyPr wrap="square" rtlCol="0" anchor="ctr"/>
          <a:lstStyle/>
          <a:p>
            <a:pPr indent="0" marL="0">
              <a:buNone/>
            </a:pPr>
            <a:r>
              <a:rPr lang="en-US" sz="1150" dirty="0">
                <a:solidFill>
                  <a:srgbClr val="9AA5B8"/>
                </a:solidFill>
                <a:latin typeface="Calibri" pitchFamily="34" charset="0"/>
                <a:ea typeface="Calibri" pitchFamily="34" charset="-122"/>
                <a:cs typeface="Calibri" pitchFamily="34" charset="-120"/>
              </a:rPr>
              <a:t>A separate module compares total free time vs. total task time to flag impossible days before scheduling.</a:t>
            </a:r>
            <a:endParaRPr lang="en-US" sz="1150" dirty="0"/>
          </a:p>
        </p:txBody>
      </p:sp>
      <p:sp>
        <p:nvSpPr>
          <p:cNvPr id="14" name="Text 12"/>
          <p:cNvSpPr/>
          <p:nvPr/>
        </p:nvSpPr>
        <p:spPr>
          <a:xfrm>
            <a:off x="548640" y="6537960"/>
            <a:ext cx="3657600" cy="274320"/>
          </a:xfrm>
          <a:prstGeom prst="rect">
            <a:avLst/>
          </a:prstGeom>
          <a:noFill/>
          <a:ln/>
        </p:spPr>
        <p:txBody>
          <a:bodyPr wrap="square" rtlCol="0" anchor="ctr"/>
          <a:lstStyle/>
          <a:p>
            <a:pPr indent="0" marL="0">
              <a:buNone/>
            </a:pPr>
            <a:r>
              <a:rPr lang="en-US" sz="1000" dirty="0">
                <a:solidFill>
                  <a:srgbClr val="9AA5B8"/>
                </a:solidFill>
                <a:latin typeface="Calibri" pitchFamily="34" charset="0"/>
                <a:ea typeface="Calibri" pitchFamily="34" charset="-122"/>
                <a:cs typeface="Calibri" pitchFamily="34" charset="-120"/>
              </a:rPr>
              <a:t>Easy Timetable</a:t>
            </a:r>
            <a:endParaRPr lang="en-US" sz="1000" dirty="0"/>
          </a:p>
        </p:txBody>
      </p:sp>
      <p:sp>
        <p:nvSpPr>
          <p:cNvPr id="15" name="Text 13"/>
          <p:cNvSpPr/>
          <p:nvPr/>
        </p:nvSpPr>
        <p:spPr>
          <a:xfrm>
            <a:off x="11612880" y="6537960"/>
            <a:ext cx="365760" cy="274320"/>
          </a:xfrm>
          <a:prstGeom prst="rect">
            <a:avLst/>
          </a:prstGeom>
          <a:noFill/>
          <a:ln/>
        </p:spPr>
        <p:txBody>
          <a:bodyPr wrap="square" rtlCol="0" anchor="ctr"/>
          <a:lstStyle/>
          <a:p>
            <a:pPr algn="r" indent="0" marL="0">
              <a:buNone/>
            </a:pPr>
            <a:r>
              <a:rPr lang="en-US" sz="1000" dirty="0">
                <a:solidFill>
                  <a:srgbClr val="9AA5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826"/>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400" b="1" spc="200" kern="0" dirty="0">
                <a:solidFill>
                  <a:srgbClr val="5DD0B0"/>
                </a:solidFill>
                <a:latin typeface="Calibri" pitchFamily="34" charset="0"/>
                <a:ea typeface="Calibri" pitchFamily="34" charset="-122"/>
                <a:cs typeface="Calibri" pitchFamily="34" charset="-120"/>
              </a:rPr>
              <a:t>WHY IT'S WORTH USING</a:t>
            </a:r>
            <a:endParaRPr lang="en-US" sz="14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400" b="1" dirty="0">
                <a:solidFill>
                  <a:srgbClr val="E8EBF2"/>
                </a:solidFill>
                <a:latin typeface="Calibri" pitchFamily="34" charset="0"/>
                <a:ea typeface="Calibri" pitchFamily="34" charset="-122"/>
                <a:cs typeface="Calibri" pitchFamily="34" charset="-120"/>
              </a:rPr>
              <a:t>No account. No server. No lock-in.</a:t>
            </a:r>
            <a:endParaRPr lang="en-US" sz="3400" dirty="0"/>
          </a:p>
        </p:txBody>
      </p:sp>
      <p:sp>
        <p:nvSpPr>
          <p:cNvPr id="4" name="Shape 2"/>
          <p:cNvSpPr/>
          <p:nvPr/>
        </p:nvSpPr>
        <p:spPr>
          <a:xfrm>
            <a:off x="548640" y="1737360"/>
            <a:ext cx="5349240" cy="1417320"/>
          </a:xfrm>
          <a:prstGeom prst="roundRect">
            <a:avLst>
              <a:gd name="adj" fmla="val 3871"/>
            </a:avLst>
          </a:prstGeom>
          <a:solidFill>
            <a:srgbClr val="1B2436"/>
          </a:solidFill>
          <a:ln w="9525">
            <a:solidFill>
              <a:srgbClr val="2A3550"/>
            </a:solidFill>
            <a:prstDash val="solid"/>
          </a:ln>
        </p:spPr>
      </p:sp>
      <p:sp>
        <p:nvSpPr>
          <p:cNvPr id="5" name="Text 3"/>
          <p:cNvSpPr/>
          <p:nvPr/>
        </p:nvSpPr>
        <p:spPr>
          <a:xfrm>
            <a:off x="777240" y="1847088"/>
            <a:ext cx="4892040" cy="365760"/>
          </a:xfrm>
          <a:prstGeom prst="rect">
            <a:avLst/>
          </a:prstGeom>
          <a:noFill/>
          <a:ln/>
        </p:spPr>
        <p:txBody>
          <a:bodyPr wrap="square" rtlCol="0" anchor="ctr"/>
          <a:lstStyle/>
          <a:p>
            <a:pPr indent="0" marL="0">
              <a:buNone/>
            </a:pPr>
            <a:r>
              <a:rPr lang="en-US" sz="1550" b="1" dirty="0">
                <a:solidFill>
                  <a:srgbClr val="5DD0B0"/>
                </a:solidFill>
                <a:latin typeface="Calibri" pitchFamily="34" charset="0"/>
                <a:ea typeface="Calibri" pitchFamily="34" charset="-122"/>
                <a:cs typeface="Calibri" pitchFamily="34" charset="-120"/>
              </a:rPr>
              <a:t>100% local</a:t>
            </a:r>
            <a:endParaRPr lang="en-US" sz="1550" dirty="0"/>
          </a:p>
        </p:txBody>
      </p:sp>
      <p:sp>
        <p:nvSpPr>
          <p:cNvPr id="6" name="Text 4"/>
          <p:cNvSpPr/>
          <p:nvPr/>
        </p:nvSpPr>
        <p:spPr>
          <a:xfrm>
            <a:off x="777240" y="2212848"/>
            <a:ext cx="4892040" cy="868680"/>
          </a:xfrm>
          <a:prstGeom prst="rect">
            <a:avLst/>
          </a:prstGeom>
          <a:noFill/>
          <a:ln/>
        </p:spPr>
        <p:txBody>
          <a:bodyPr wrap="square" rtlCol="0" anchor="t"/>
          <a:lstStyle/>
          <a:p>
            <a:pPr indent="0" marL="0">
              <a:buNone/>
            </a:pPr>
            <a:r>
              <a:rPr lang="en-US" sz="1200" dirty="0">
                <a:solidFill>
                  <a:srgbClr val="9AA5B8"/>
                </a:solidFill>
                <a:latin typeface="Calibri" pitchFamily="34" charset="0"/>
                <a:ea typeface="Calibri" pitchFamily="34" charset="-122"/>
                <a:cs typeface="Calibri" pitchFamily="34" charset="-120"/>
              </a:rPr>
              <a:t>Runs from static HTML + ES modules. Data lives in localStorage — nothing leaves your browser.</a:t>
            </a:r>
            <a:endParaRPr lang="en-US" sz="1200" dirty="0"/>
          </a:p>
        </p:txBody>
      </p:sp>
      <p:sp>
        <p:nvSpPr>
          <p:cNvPr id="7" name="Shape 5"/>
          <p:cNvSpPr/>
          <p:nvPr/>
        </p:nvSpPr>
        <p:spPr>
          <a:xfrm>
            <a:off x="6263640" y="1737360"/>
            <a:ext cx="5349240" cy="1417320"/>
          </a:xfrm>
          <a:prstGeom prst="roundRect">
            <a:avLst>
              <a:gd name="adj" fmla="val 3871"/>
            </a:avLst>
          </a:prstGeom>
          <a:solidFill>
            <a:srgbClr val="1B2436"/>
          </a:solidFill>
          <a:ln w="9525">
            <a:solidFill>
              <a:srgbClr val="2A3550"/>
            </a:solidFill>
            <a:prstDash val="solid"/>
          </a:ln>
        </p:spPr>
      </p:sp>
      <p:sp>
        <p:nvSpPr>
          <p:cNvPr id="8" name="Text 6"/>
          <p:cNvSpPr/>
          <p:nvPr/>
        </p:nvSpPr>
        <p:spPr>
          <a:xfrm>
            <a:off x="6492240" y="1847088"/>
            <a:ext cx="4892040" cy="365760"/>
          </a:xfrm>
          <a:prstGeom prst="rect">
            <a:avLst/>
          </a:prstGeom>
          <a:noFill/>
          <a:ln/>
        </p:spPr>
        <p:txBody>
          <a:bodyPr wrap="square" rtlCol="0" anchor="ctr"/>
          <a:lstStyle/>
          <a:p>
            <a:pPr indent="0" marL="0">
              <a:buNone/>
            </a:pPr>
            <a:r>
              <a:rPr lang="en-US" sz="1550" b="1" dirty="0">
                <a:solidFill>
                  <a:srgbClr val="5DD0B0"/>
                </a:solidFill>
                <a:latin typeface="Calibri" pitchFamily="34" charset="0"/>
                <a:ea typeface="Calibri" pitchFamily="34" charset="-122"/>
                <a:cs typeface="Calibri" pitchFamily="34" charset="-120"/>
              </a:rPr>
              <a:t>Works offline</a:t>
            </a:r>
            <a:endParaRPr lang="en-US" sz="1550" dirty="0"/>
          </a:p>
        </p:txBody>
      </p:sp>
      <p:sp>
        <p:nvSpPr>
          <p:cNvPr id="9" name="Text 7"/>
          <p:cNvSpPr/>
          <p:nvPr/>
        </p:nvSpPr>
        <p:spPr>
          <a:xfrm>
            <a:off x="6492240" y="2212848"/>
            <a:ext cx="4892040" cy="868680"/>
          </a:xfrm>
          <a:prstGeom prst="rect">
            <a:avLst/>
          </a:prstGeom>
          <a:noFill/>
          <a:ln/>
        </p:spPr>
        <p:txBody>
          <a:bodyPr wrap="square" rtlCol="0" anchor="t"/>
          <a:lstStyle/>
          <a:p>
            <a:pPr indent="0" marL="0">
              <a:buNone/>
            </a:pPr>
            <a:r>
              <a:rPr lang="en-US" sz="1200" dirty="0">
                <a:solidFill>
                  <a:srgbClr val="9AA5B8"/>
                </a:solidFill>
                <a:latin typeface="Calibri" pitchFamily="34" charset="0"/>
                <a:ea typeface="Calibri" pitchFamily="34" charset="-122"/>
                <a:cs typeface="Calibri" pitchFamily="34" charset="-120"/>
              </a:rPr>
              <a:t>A registered service worker means the app still opens without a connection.</a:t>
            </a:r>
            <a:endParaRPr lang="en-US" sz="1200" dirty="0"/>
          </a:p>
        </p:txBody>
      </p:sp>
      <p:sp>
        <p:nvSpPr>
          <p:cNvPr id="10" name="Shape 8"/>
          <p:cNvSpPr/>
          <p:nvPr/>
        </p:nvSpPr>
        <p:spPr>
          <a:xfrm>
            <a:off x="548640" y="3383280"/>
            <a:ext cx="5349240" cy="1417320"/>
          </a:xfrm>
          <a:prstGeom prst="roundRect">
            <a:avLst>
              <a:gd name="adj" fmla="val 3871"/>
            </a:avLst>
          </a:prstGeom>
          <a:solidFill>
            <a:srgbClr val="1B2436"/>
          </a:solidFill>
          <a:ln w="9525">
            <a:solidFill>
              <a:srgbClr val="2A3550"/>
            </a:solidFill>
            <a:prstDash val="solid"/>
          </a:ln>
        </p:spPr>
      </p:sp>
      <p:sp>
        <p:nvSpPr>
          <p:cNvPr id="11" name="Text 9"/>
          <p:cNvSpPr/>
          <p:nvPr/>
        </p:nvSpPr>
        <p:spPr>
          <a:xfrm>
            <a:off x="777240" y="3493008"/>
            <a:ext cx="4892040" cy="365760"/>
          </a:xfrm>
          <a:prstGeom prst="rect">
            <a:avLst/>
          </a:prstGeom>
          <a:noFill/>
          <a:ln/>
        </p:spPr>
        <p:txBody>
          <a:bodyPr wrap="square" rtlCol="0" anchor="ctr"/>
          <a:lstStyle/>
          <a:p>
            <a:pPr indent="0" marL="0">
              <a:buNone/>
            </a:pPr>
            <a:r>
              <a:rPr lang="en-US" sz="1550" b="1" dirty="0">
                <a:solidFill>
                  <a:srgbClr val="5DD0B0"/>
                </a:solidFill>
                <a:latin typeface="Calibri" pitchFamily="34" charset="0"/>
                <a:ea typeface="Calibri" pitchFamily="34" charset="-122"/>
                <a:cs typeface="Calibri" pitchFamily="34" charset="-120"/>
              </a:rPr>
              <a:t>Fast feedback loop</a:t>
            </a:r>
            <a:endParaRPr lang="en-US" sz="1550" dirty="0"/>
          </a:p>
        </p:txBody>
      </p:sp>
      <p:sp>
        <p:nvSpPr>
          <p:cNvPr id="12" name="Text 10"/>
          <p:cNvSpPr/>
          <p:nvPr/>
        </p:nvSpPr>
        <p:spPr>
          <a:xfrm>
            <a:off x="777240" y="3858768"/>
            <a:ext cx="4892040" cy="868680"/>
          </a:xfrm>
          <a:prstGeom prst="rect">
            <a:avLst/>
          </a:prstGeom>
          <a:noFill/>
          <a:ln/>
        </p:spPr>
        <p:txBody>
          <a:bodyPr wrap="square" rtlCol="0" anchor="t"/>
          <a:lstStyle/>
          <a:p>
            <a:pPr indent="0" marL="0">
              <a:buNone/>
            </a:pPr>
            <a:r>
              <a:rPr lang="en-US" sz="1200" dirty="0">
                <a:solidFill>
                  <a:srgbClr val="9AA5B8"/>
                </a:solidFill>
                <a:latin typeface="Calibri" pitchFamily="34" charset="0"/>
                <a:ea typeface="Calibri" pitchFamily="34" charset="-122"/>
                <a:cs typeface="Calibri" pitchFamily="34" charset="-120"/>
              </a:rPr>
              <a:t>Live 7-day preview updates as you type — you see conflicts before you're committed to a plan.</a:t>
            </a:r>
            <a:endParaRPr lang="en-US" sz="1200" dirty="0"/>
          </a:p>
        </p:txBody>
      </p:sp>
      <p:sp>
        <p:nvSpPr>
          <p:cNvPr id="13" name="Shape 11"/>
          <p:cNvSpPr/>
          <p:nvPr/>
        </p:nvSpPr>
        <p:spPr>
          <a:xfrm>
            <a:off x="6263640" y="3383280"/>
            <a:ext cx="5349240" cy="1417320"/>
          </a:xfrm>
          <a:prstGeom prst="roundRect">
            <a:avLst>
              <a:gd name="adj" fmla="val 3871"/>
            </a:avLst>
          </a:prstGeom>
          <a:solidFill>
            <a:srgbClr val="1B2436"/>
          </a:solidFill>
          <a:ln w="9525">
            <a:solidFill>
              <a:srgbClr val="2A3550"/>
            </a:solidFill>
            <a:prstDash val="solid"/>
          </a:ln>
        </p:spPr>
      </p:sp>
      <p:sp>
        <p:nvSpPr>
          <p:cNvPr id="14" name="Text 12"/>
          <p:cNvSpPr/>
          <p:nvPr/>
        </p:nvSpPr>
        <p:spPr>
          <a:xfrm>
            <a:off x="6492240" y="3493008"/>
            <a:ext cx="4892040" cy="365760"/>
          </a:xfrm>
          <a:prstGeom prst="rect">
            <a:avLst/>
          </a:prstGeom>
          <a:noFill/>
          <a:ln/>
        </p:spPr>
        <p:txBody>
          <a:bodyPr wrap="square" rtlCol="0" anchor="ctr"/>
          <a:lstStyle/>
          <a:p>
            <a:pPr indent="0" marL="0">
              <a:buNone/>
            </a:pPr>
            <a:r>
              <a:rPr lang="en-US" sz="1550" b="1" dirty="0">
                <a:solidFill>
                  <a:srgbClr val="5DD0B0"/>
                </a:solidFill>
                <a:latin typeface="Calibri" pitchFamily="34" charset="0"/>
                <a:ea typeface="Calibri" pitchFamily="34" charset="-122"/>
                <a:cs typeface="Calibri" pitchFamily="34" charset="-120"/>
              </a:rPr>
              <a:t>Own your data</a:t>
            </a:r>
            <a:endParaRPr lang="en-US" sz="1550" dirty="0"/>
          </a:p>
        </p:txBody>
      </p:sp>
      <p:sp>
        <p:nvSpPr>
          <p:cNvPr id="15" name="Text 13"/>
          <p:cNvSpPr/>
          <p:nvPr/>
        </p:nvSpPr>
        <p:spPr>
          <a:xfrm>
            <a:off x="6492240" y="3858768"/>
            <a:ext cx="4892040" cy="868680"/>
          </a:xfrm>
          <a:prstGeom prst="rect">
            <a:avLst/>
          </a:prstGeom>
          <a:noFill/>
          <a:ln/>
        </p:spPr>
        <p:txBody>
          <a:bodyPr wrap="square" rtlCol="0" anchor="t"/>
          <a:lstStyle/>
          <a:p>
            <a:pPr indent="0" marL="0">
              <a:buNone/>
            </a:pPr>
            <a:r>
              <a:rPr lang="en-US" sz="1200" dirty="0">
                <a:solidFill>
                  <a:srgbClr val="9AA5B8"/>
                </a:solidFill>
                <a:latin typeface="Calibri" pitchFamily="34" charset="0"/>
                <a:ea typeface="Calibri" pitchFamily="34" charset="-122"/>
                <a:cs typeface="Calibri" pitchFamily="34" charset="-120"/>
              </a:rPr>
              <a:t>One-click JSON export/import for backup or moving between browsers/devices; named profiles for different weeks.</a:t>
            </a:r>
            <a:endParaRPr lang="en-US" sz="1200" dirty="0"/>
          </a:p>
        </p:txBody>
      </p:sp>
      <p:sp>
        <p:nvSpPr>
          <p:cNvPr id="16" name="Shape 14"/>
          <p:cNvSpPr/>
          <p:nvPr/>
        </p:nvSpPr>
        <p:spPr>
          <a:xfrm>
            <a:off x="548640" y="5029200"/>
            <a:ext cx="5349240" cy="1417320"/>
          </a:xfrm>
          <a:prstGeom prst="roundRect">
            <a:avLst>
              <a:gd name="adj" fmla="val 3871"/>
            </a:avLst>
          </a:prstGeom>
          <a:solidFill>
            <a:srgbClr val="1B2436"/>
          </a:solidFill>
          <a:ln w="9525">
            <a:solidFill>
              <a:srgbClr val="2A3550"/>
            </a:solidFill>
            <a:prstDash val="solid"/>
          </a:ln>
        </p:spPr>
      </p:sp>
      <p:sp>
        <p:nvSpPr>
          <p:cNvPr id="17" name="Text 15"/>
          <p:cNvSpPr/>
          <p:nvPr/>
        </p:nvSpPr>
        <p:spPr>
          <a:xfrm>
            <a:off x="777240" y="5138928"/>
            <a:ext cx="4892040" cy="365760"/>
          </a:xfrm>
          <a:prstGeom prst="rect">
            <a:avLst/>
          </a:prstGeom>
          <a:noFill/>
          <a:ln/>
        </p:spPr>
        <p:txBody>
          <a:bodyPr wrap="square" rtlCol="0" anchor="ctr"/>
          <a:lstStyle/>
          <a:p>
            <a:pPr indent="0" marL="0">
              <a:buNone/>
            </a:pPr>
            <a:r>
              <a:rPr lang="en-US" sz="1550" b="1" dirty="0">
                <a:solidFill>
                  <a:srgbClr val="5DD0B0"/>
                </a:solidFill>
                <a:latin typeface="Calibri" pitchFamily="34" charset="0"/>
                <a:ea typeface="Calibri" pitchFamily="34" charset="-122"/>
                <a:cs typeface="Calibri" pitchFamily="34" charset="-120"/>
              </a:rPr>
              <a:t>Built for real weeks</a:t>
            </a:r>
            <a:endParaRPr lang="en-US" sz="1550" dirty="0"/>
          </a:p>
        </p:txBody>
      </p:sp>
      <p:sp>
        <p:nvSpPr>
          <p:cNvPr id="18" name="Text 16"/>
          <p:cNvSpPr/>
          <p:nvPr/>
        </p:nvSpPr>
        <p:spPr>
          <a:xfrm>
            <a:off x="777240" y="5504688"/>
            <a:ext cx="4892040" cy="868680"/>
          </a:xfrm>
          <a:prstGeom prst="rect">
            <a:avLst/>
          </a:prstGeom>
          <a:noFill/>
          <a:ln/>
        </p:spPr>
        <p:txBody>
          <a:bodyPr wrap="square" rtlCol="0" anchor="t"/>
          <a:lstStyle/>
          <a:p>
            <a:pPr indent="0" marL="0">
              <a:buNone/>
            </a:pPr>
            <a:r>
              <a:rPr lang="en-US" sz="1200" dirty="0">
                <a:solidFill>
                  <a:srgbClr val="9AA5B8"/>
                </a:solidFill>
                <a:latin typeface="Calibri" pitchFamily="34" charset="0"/>
                <a:ea typeface="Calibri" pitchFamily="34" charset="-122"/>
                <a:cs typeface="Calibri" pitchFamily="34" charset="-120"/>
              </a:rPr>
              <a:t>Due dates, priority order, and a fit banner that tells you when a task literally cannot fit — with a shortcut back to fix it.</a:t>
            </a:r>
            <a:endParaRPr lang="en-US" sz="1200" dirty="0"/>
          </a:p>
        </p:txBody>
      </p:sp>
      <p:sp>
        <p:nvSpPr>
          <p:cNvPr id="19" name="Shape 17"/>
          <p:cNvSpPr/>
          <p:nvPr/>
        </p:nvSpPr>
        <p:spPr>
          <a:xfrm>
            <a:off x="6263640" y="5029200"/>
            <a:ext cx="5349240" cy="1417320"/>
          </a:xfrm>
          <a:prstGeom prst="roundRect">
            <a:avLst>
              <a:gd name="adj" fmla="val 3871"/>
            </a:avLst>
          </a:prstGeom>
          <a:solidFill>
            <a:srgbClr val="1B2436"/>
          </a:solidFill>
          <a:ln w="9525">
            <a:solidFill>
              <a:srgbClr val="2A3550"/>
            </a:solidFill>
            <a:prstDash val="solid"/>
          </a:ln>
        </p:spPr>
      </p:sp>
      <p:sp>
        <p:nvSpPr>
          <p:cNvPr id="20" name="Text 18"/>
          <p:cNvSpPr/>
          <p:nvPr/>
        </p:nvSpPr>
        <p:spPr>
          <a:xfrm>
            <a:off x="6492240" y="5138928"/>
            <a:ext cx="4892040" cy="365760"/>
          </a:xfrm>
          <a:prstGeom prst="rect">
            <a:avLst/>
          </a:prstGeom>
          <a:noFill/>
          <a:ln/>
        </p:spPr>
        <p:txBody>
          <a:bodyPr wrap="square" rtlCol="0" anchor="ctr"/>
          <a:lstStyle/>
          <a:p>
            <a:pPr indent="0" marL="0">
              <a:buNone/>
            </a:pPr>
            <a:r>
              <a:rPr lang="en-US" sz="1550" b="1" dirty="0">
                <a:solidFill>
                  <a:srgbClr val="5DD0B0"/>
                </a:solidFill>
                <a:latin typeface="Calibri" pitchFamily="34" charset="0"/>
                <a:ea typeface="Calibri" pitchFamily="34" charset="-122"/>
                <a:cs typeface="Calibri" pitchFamily="34" charset="-120"/>
              </a:rPr>
              <a:t>Accessible by default</a:t>
            </a:r>
            <a:endParaRPr lang="en-US" sz="1550" dirty="0"/>
          </a:p>
        </p:txBody>
      </p:sp>
      <p:sp>
        <p:nvSpPr>
          <p:cNvPr id="21" name="Text 19"/>
          <p:cNvSpPr/>
          <p:nvPr/>
        </p:nvSpPr>
        <p:spPr>
          <a:xfrm>
            <a:off x="6492240" y="5504688"/>
            <a:ext cx="4892040" cy="868680"/>
          </a:xfrm>
          <a:prstGeom prst="rect">
            <a:avLst/>
          </a:prstGeom>
          <a:noFill/>
          <a:ln/>
        </p:spPr>
        <p:txBody>
          <a:bodyPr wrap="square" rtlCol="0" anchor="t"/>
          <a:lstStyle/>
          <a:p>
            <a:pPr indent="0" marL="0">
              <a:buNone/>
            </a:pPr>
            <a:r>
              <a:rPr lang="en-US" sz="1200" dirty="0">
                <a:solidFill>
                  <a:srgbClr val="9AA5B8"/>
                </a:solidFill>
                <a:latin typeface="Calibri" pitchFamily="34" charset="0"/>
                <a:ea typeface="Calibri" pitchFamily="34" charset="-122"/>
                <a:cs typeface="Calibri" pitchFamily="34" charset="-120"/>
              </a:rPr>
              <a:t>Adjustable text size, high-contrast focus rings, reduced-motion toggle, multiple themes.</a:t>
            </a:r>
            <a:endParaRPr lang="en-US" sz="1200" dirty="0"/>
          </a:p>
        </p:txBody>
      </p:sp>
      <p:sp>
        <p:nvSpPr>
          <p:cNvPr id="22" name="Text 20"/>
          <p:cNvSpPr/>
          <p:nvPr/>
        </p:nvSpPr>
        <p:spPr>
          <a:xfrm>
            <a:off x="548640" y="6537960"/>
            <a:ext cx="3657600" cy="274320"/>
          </a:xfrm>
          <a:prstGeom prst="rect">
            <a:avLst/>
          </a:prstGeom>
          <a:noFill/>
          <a:ln/>
        </p:spPr>
        <p:txBody>
          <a:bodyPr wrap="square" rtlCol="0" anchor="ctr"/>
          <a:lstStyle/>
          <a:p>
            <a:pPr indent="0" marL="0">
              <a:buNone/>
            </a:pPr>
            <a:r>
              <a:rPr lang="en-US" sz="1000" dirty="0">
                <a:solidFill>
                  <a:srgbClr val="9AA5B8"/>
                </a:solidFill>
                <a:latin typeface="Calibri" pitchFamily="34" charset="0"/>
                <a:ea typeface="Calibri" pitchFamily="34" charset="-122"/>
                <a:cs typeface="Calibri" pitchFamily="34" charset="-120"/>
              </a:rPr>
              <a:t>Easy Timetable</a:t>
            </a:r>
            <a:endParaRPr lang="en-US" sz="1000" dirty="0"/>
          </a:p>
        </p:txBody>
      </p:sp>
      <p:sp>
        <p:nvSpPr>
          <p:cNvPr id="23" name="Text 21"/>
          <p:cNvSpPr/>
          <p:nvPr/>
        </p:nvSpPr>
        <p:spPr>
          <a:xfrm>
            <a:off x="11612880" y="6537960"/>
            <a:ext cx="365760" cy="274320"/>
          </a:xfrm>
          <a:prstGeom prst="rect">
            <a:avLst/>
          </a:prstGeom>
          <a:noFill/>
          <a:ln/>
        </p:spPr>
        <p:txBody>
          <a:bodyPr wrap="square" rtlCol="0" anchor="ctr"/>
          <a:lstStyle/>
          <a:p>
            <a:pPr algn="r" indent="0" marL="0">
              <a:buNone/>
            </a:pPr>
            <a:r>
              <a:rPr lang="en-US" sz="1000" dirty="0">
                <a:solidFill>
                  <a:srgbClr val="9AA5B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826"/>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400" b="1" spc="200" kern="0" dirty="0">
                <a:solidFill>
                  <a:srgbClr val="5DD0B0"/>
                </a:solidFill>
                <a:latin typeface="Calibri" pitchFamily="34" charset="0"/>
                <a:ea typeface="Calibri" pitchFamily="34" charset="-122"/>
                <a:cs typeface="Calibri" pitchFamily="34" charset="-120"/>
              </a:rPr>
              <a:t>HOW IT'S BUILT</a:t>
            </a:r>
            <a:endParaRPr lang="en-US" sz="14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400" b="1" dirty="0">
                <a:solidFill>
                  <a:srgbClr val="E8EBF2"/>
                </a:solidFill>
                <a:latin typeface="Calibri" pitchFamily="34" charset="0"/>
                <a:ea typeface="Calibri" pitchFamily="34" charset="-122"/>
                <a:cs typeface="Calibri" pitchFamily="34" charset="-120"/>
              </a:rPr>
              <a:t>Screaming architecture — folders named for what they do</a:t>
            </a:r>
            <a:endParaRPr lang="en-US" sz="3400" dirty="0"/>
          </a:p>
        </p:txBody>
      </p:sp>
      <p:sp>
        <p:nvSpPr>
          <p:cNvPr id="4" name="Shape 2"/>
          <p:cNvSpPr/>
          <p:nvPr/>
        </p:nvSpPr>
        <p:spPr>
          <a:xfrm>
            <a:off x="548640" y="1874520"/>
            <a:ext cx="11064240" cy="658368"/>
          </a:xfrm>
          <a:prstGeom prst="rect">
            <a:avLst/>
          </a:prstGeom>
          <a:solidFill>
            <a:srgbClr val="1B2436"/>
          </a:solidFill>
          <a:ln/>
        </p:spPr>
      </p:sp>
      <p:sp>
        <p:nvSpPr>
          <p:cNvPr id="5" name="Text 3"/>
          <p:cNvSpPr/>
          <p:nvPr/>
        </p:nvSpPr>
        <p:spPr>
          <a:xfrm>
            <a:off x="822960" y="1984248"/>
            <a:ext cx="2926080" cy="457200"/>
          </a:xfrm>
          <a:prstGeom prst="rect">
            <a:avLst/>
          </a:prstGeom>
          <a:noFill/>
          <a:ln/>
        </p:spPr>
        <p:txBody>
          <a:bodyPr wrap="square" rtlCol="0" anchor="ctr"/>
          <a:lstStyle/>
          <a:p>
            <a:pPr indent="0" marL="0">
              <a:buNone/>
            </a:pPr>
            <a:r>
              <a:rPr lang="en-US" sz="1500" b="1" dirty="0">
                <a:solidFill>
                  <a:srgbClr val="6C8CFF"/>
                </a:solidFill>
                <a:latin typeface="Consolas" pitchFamily="34" charset="0"/>
                <a:ea typeface="Consolas" pitchFamily="34" charset="-122"/>
                <a:cs typeface="Consolas" pitchFamily="34" charset="-120"/>
              </a:rPr>
              <a:t>src/gaps/</a:t>
            </a:r>
            <a:endParaRPr lang="en-US" sz="1500" dirty="0"/>
          </a:p>
        </p:txBody>
      </p:sp>
      <p:sp>
        <p:nvSpPr>
          <p:cNvPr id="6" name="Text 4"/>
          <p:cNvSpPr/>
          <p:nvPr/>
        </p:nvSpPr>
        <p:spPr>
          <a:xfrm>
            <a:off x="3931920" y="1984248"/>
            <a:ext cx="7498080" cy="457200"/>
          </a:xfrm>
          <a:prstGeom prst="rect">
            <a:avLst/>
          </a:prstGeom>
          <a:noFill/>
          <a:ln/>
        </p:spPr>
        <p:txBody>
          <a:bodyPr wrap="square" rtlCol="0" anchor="ctr"/>
          <a:lstStyle/>
          <a:p>
            <a:pPr indent="0" marL="0">
              <a:buNone/>
            </a:pPr>
            <a:r>
              <a:rPr lang="en-US" sz="1400" dirty="0">
                <a:solidFill>
                  <a:srgbClr val="E8EBF2"/>
                </a:solidFill>
                <a:latin typeface="Calibri" pitchFamily="34" charset="0"/>
                <a:ea typeface="Calibri" pitchFamily="34" charset="-122"/>
                <a:cs typeface="Calibri" pitchFamily="34" charset="-120"/>
              </a:rPr>
              <a:t>Free-time gap rules + quick-layout templates</a:t>
            </a:r>
            <a:endParaRPr lang="en-US" sz="1400" dirty="0"/>
          </a:p>
        </p:txBody>
      </p:sp>
      <p:sp>
        <p:nvSpPr>
          <p:cNvPr id="7" name="Text 5"/>
          <p:cNvSpPr/>
          <p:nvPr/>
        </p:nvSpPr>
        <p:spPr>
          <a:xfrm>
            <a:off x="822960" y="2642616"/>
            <a:ext cx="2926080" cy="457200"/>
          </a:xfrm>
          <a:prstGeom prst="rect">
            <a:avLst/>
          </a:prstGeom>
          <a:noFill/>
          <a:ln/>
        </p:spPr>
        <p:txBody>
          <a:bodyPr wrap="square" rtlCol="0" anchor="ctr"/>
          <a:lstStyle/>
          <a:p>
            <a:pPr indent="0" marL="0">
              <a:buNone/>
            </a:pPr>
            <a:r>
              <a:rPr lang="en-US" sz="1500" b="1" dirty="0">
                <a:solidFill>
                  <a:srgbClr val="6C8CFF"/>
                </a:solidFill>
                <a:latin typeface="Consolas" pitchFamily="34" charset="0"/>
                <a:ea typeface="Consolas" pitchFamily="34" charset="-122"/>
                <a:cs typeface="Consolas" pitchFamily="34" charset="-120"/>
              </a:rPr>
              <a:t>src/tasks/</a:t>
            </a:r>
            <a:endParaRPr lang="en-US" sz="1500" dirty="0"/>
          </a:p>
        </p:txBody>
      </p:sp>
      <p:sp>
        <p:nvSpPr>
          <p:cNvPr id="8" name="Text 6"/>
          <p:cNvSpPr/>
          <p:nvPr/>
        </p:nvSpPr>
        <p:spPr>
          <a:xfrm>
            <a:off x="3931920" y="2642616"/>
            <a:ext cx="7498080" cy="457200"/>
          </a:xfrm>
          <a:prstGeom prst="rect">
            <a:avLst/>
          </a:prstGeom>
          <a:noFill/>
          <a:ln/>
        </p:spPr>
        <p:txBody>
          <a:bodyPr wrap="square" rtlCol="0" anchor="ctr"/>
          <a:lstStyle/>
          <a:p>
            <a:pPr indent="0" marL="0">
              <a:buNone/>
            </a:pPr>
            <a:r>
              <a:rPr lang="en-US" sz="1400" dirty="0">
                <a:solidFill>
                  <a:srgbClr val="E8EBF2"/>
                </a:solidFill>
                <a:latin typeface="Calibri" pitchFamily="34" charset="0"/>
                <a:ea typeface="Calibri" pitchFamily="34" charset="-122"/>
                <a:cs typeface="Calibri" pitchFamily="34" charset="-120"/>
              </a:rPr>
              <a:t>Task due-date and repeat-weekday rules</a:t>
            </a:r>
            <a:endParaRPr lang="en-US" sz="1400" dirty="0"/>
          </a:p>
        </p:txBody>
      </p:sp>
      <p:sp>
        <p:nvSpPr>
          <p:cNvPr id="9" name="Shape 7"/>
          <p:cNvSpPr/>
          <p:nvPr/>
        </p:nvSpPr>
        <p:spPr>
          <a:xfrm>
            <a:off x="548640" y="3191256"/>
            <a:ext cx="11064240" cy="658368"/>
          </a:xfrm>
          <a:prstGeom prst="rect">
            <a:avLst/>
          </a:prstGeom>
          <a:solidFill>
            <a:srgbClr val="1B2436"/>
          </a:solidFill>
          <a:ln/>
        </p:spPr>
      </p:sp>
      <p:sp>
        <p:nvSpPr>
          <p:cNvPr id="10" name="Text 8"/>
          <p:cNvSpPr/>
          <p:nvPr/>
        </p:nvSpPr>
        <p:spPr>
          <a:xfrm>
            <a:off x="822960" y="3300984"/>
            <a:ext cx="2926080" cy="457200"/>
          </a:xfrm>
          <a:prstGeom prst="rect">
            <a:avLst/>
          </a:prstGeom>
          <a:noFill/>
          <a:ln/>
        </p:spPr>
        <p:txBody>
          <a:bodyPr wrap="square" rtlCol="0" anchor="ctr"/>
          <a:lstStyle/>
          <a:p>
            <a:pPr indent="0" marL="0">
              <a:buNone/>
            </a:pPr>
            <a:r>
              <a:rPr lang="en-US" sz="1500" b="1" dirty="0">
                <a:solidFill>
                  <a:srgbClr val="6C8CFF"/>
                </a:solidFill>
                <a:latin typeface="Consolas" pitchFamily="34" charset="0"/>
                <a:ea typeface="Consolas" pitchFamily="34" charset="-122"/>
                <a:cs typeface="Consolas" pitchFamily="34" charset="-120"/>
              </a:rPr>
              <a:t>src/week-plan/</a:t>
            </a:r>
            <a:endParaRPr lang="en-US" sz="1500" dirty="0"/>
          </a:p>
        </p:txBody>
      </p:sp>
      <p:sp>
        <p:nvSpPr>
          <p:cNvPr id="11" name="Text 9"/>
          <p:cNvSpPr/>
          <p:nvPr/>
        </p:nvSpPr>
        <p:spPr>
          <a:xfrm>
            <a:off x="3931920" y="3300984"/>
            <a:ext cx="7498080" cy="457200"/>
          </a:xfrm>
          <a:prstGeom prst="rect">
            <a:avLst/>
          </a:prstGeom>
          <a:noFill/>
          <a:ln/>
        </p:spPr>
        <p:txBody>
          <a:bodyPr wrap="square" rtlCol="0" anchor="ctr"/>
          <a:lstStyle/>
          <a:p>
            <a:pPr indent="0" marL="0">
              <a:buNone/>
            </a:pPr>
            <a:r>
              <a:rPr lang="en-US" sz="1400" dirty="0">
                <a:solidFill>
                  <a:srgbClr val="E8EBF2"/>
                </a:solidFill>
                <a:latin typeface="Calibri" pitchFamily="34" charset="0"/>
                <a:ea typeface="Calibri" pitchFamily="34" charset="-122"/>
                <a:cs typeface="Calibri" pitchFamily="34" charset="-120"/>
              </a:rPr>
              <a:t>Gaps + tasks → weekly preview, placement, fit diagnostics</a:t>
            </a:r>
            <a:endParaRPr lang="en-US" sz="1400" dirty="0"/>
          </a:p>
        </p:txBody>
      </p:sp>
      <p:sp>
        <p:nvSpPr>
          <p:cNvPr id="12" name="Text 10"/>
          <p:cNvSpPr/>
          <p:nvPr/>
        </p:nvSpPr>
        <p:spPr>
          <a:xfrm>
            <a:off x="822960" y="3959352"/>
            <a:ext cx="2926080" cy="457200"/>
          </a:xfrm>
          <a:prstGeom prst="rect">
            <a:avLst/>
          </a:prstGeom>
          <a:noFill/>
          <a:ln/>
        </p:spPr>
        <p:txBody>
          <a:bodyPr wrap="square" rtlCol="0" anchor="ctr"/>
          <a:lstStyle/>
          <a:p>
            <a:pPr indent="0" marL="0">
              <a:buNone/>
            </a:pPr>
            <a:r>
              <a:rPr lang="en-US" sz="1500" b="1" dirty="0">
                <a:solidFill>
                  <a:srgbClr val="6C8CFF"/>
                </a:solidFill>
                <a:latin typeface="Consolas" pitchFamily="34" charset="0"/>
                <a:ea typeface="Consolas" pitchFamily="34" charset="-122"/>
                <a:cs typeface="Consolas" pitchFamily="34" charset="-120"/>
              </a:rPr>
              <a:t>src/export/</a:t>
            </a:r>
            <a:endParaRPr lang="en-US" sz="1500" dirty="0"/>
          </a:p>
        </p:txBody>
      </p:sp>
      <p:sp>
        <p:nvSpPr>
          <p:cNvPr id="13" name="Text 11"/>
          <p:cNvSpPr/>
          <p:nvPr/>
        </p:nvSpPr>
        <p:spPr>
          <a:xfrm>
            <a:off x="3931920" y="3959352"/>
            <a:ext cx="7498080" cy="457200"/>
          </a:xfrm>
          <a:prstGeom prst="rect">
            <a:avLst/>
          </a:prstGeom>
          <a:noFill/>
          <a:ln/>
        </p:spPr>
        <p:txBody>
          <a:bodyPr wrap="square" rtlCol="0" anchor="ctr"/>
          <a:lstStyle/>
          <a:p>
            <a:pPr indent="0" marL="0">
              <a:buNone/>
            </a:pPr>
            <a:r>
              <a:rPr lang="en-US" sz="1400" dirty="0">
                <a:solidFill>
                  <a:srgbClr val="E8EBF2"/>
                </a:solidFill>
                <a:latin typeface="Calibri" pitchFamily="34" charset="0"/>
                <a:ea typeface="Calibri" pitchFamily="34" charset="-122"/>
                <a:cs typeface="Calibri" pitchFamily="34" charset="-120"/>
              </a:rPr>
              <a:t>Week preview → .ics calendar or plain text</a:t>
            </a:r>
            <a:endParaRPr lang="en-US" sz="1400" dirty="0"/>
          </a:p>
        </p:txBody>
      </p:sp>
      <p:sp>
        <p:nvSpPr>
          <p:cNvPr id="14" name="Shape 12"/>
          <p:cNvSpPr/>
          <p:nvPr/>
        </p:nvSpPr>
        <p:spPr>
          <a:xfrm>
            <a:off x="548640" y="4507992"/>
            <a:ext cx="11064240" cy="658368"/>
          </a:xfrm>
          <a:prstGeom prst="rect">
            <a:avLst/>
          </a:prstGeom>
          <a:solidFill>
            <a:srgbClr val="1B2436"/>
          </a:solidFill>
          <a:ln/>
        </p:spPr>
      </p:sp>
      <p:sp>
        <p:nvSpPr>
          <p:cNvPr id="15" name="Text 13"/>
          <p:cNvSpPr/>
          <p:nvPr/>
        </p:nvSpPr>
        <p:spPr>
          <a:xfrm>
            <a:off x="822960" y="4617720"/>
            <a:ext cx="2926080" cy="457200"/>
          </a:xfrm>
          <a:prstGeom prst="rect">
            <a:avLst/>
          </a:prstGeom>
          <a:noFill/>
          <a:ln/>
        </p:spPr>
        <p:txBody>
          <a:bodyPr wrap="square" rtlCol="0" anchor="ctr"/>
          <a:lstStyle/>
          <a:p>
            <a:pPr indent="0" marL="0">
              <a:buNone/>
            </a:pPr>
            <a:r>
              <a:rPr lang="en-US" sz="1500" b="1" dirty="0">
                <a:solidFill>
                  <a:srgbClr val="6C8CFF"/>
                </a:solidFill>
                <a:latin typeface="Consolas" pitchFamily="34" charset="0"/>
                <a:ea typeface="Consolas" pitchFamily="34" charset="-122"/>
                <a:cs typeface="Consolas" pitchFamily="34" charset="-120"/>
              </a:rPr>
              <a:t>src/app-state.js</a:t>
            </a:r>
            <a:endParaRPr lang="en-US" sz="1500" dirty="0"/>
          </a:p>
        </p:txBody>
      </p:sp>
      <p:sp>
        <p:nvSpPr>
          <p:cNvPr id="16" name="Text 14"/>
          <p:cNvSpPr/>
          <p:nvPr/>
        </p:nvSpPr>
        <p:spPr>
          <a:xfrm>
            <a:off x="3931920" y="4617720"/>
            <a:ext cx="7498080" cy="457200"/>
          </a:xfrm>
          <a:prstGeom prst="rect">
            <a:avLst/>
          </a:prstGeom>
          <a:noFill/>
          <a:ln/>
        </p:spPr>
        <p:txBody>
          <a:bodyPr wrap="square" rtlCol="0" anchor="ctr"/>
          <a:lstStyle/>
          <a:p>
            <a:pPr indent="0" marL="0">
              <a:buNone/>
            </a:pPr>
            <a:r>
              <a:rPr lang="en-US" sz="1400" dirty="0">
                <a:solidFill>
                  <a:srgbClr val="E8EBF2"/>
                </a:solidFill>
                <a:latin typeface="Calibri" pitchFamily="34" charset="0"/>
                <a:ea typeface="Calibri" pitchFamily="34" charset="-122"/>
                <a:cs typeface="Calibri" pitchFamily="34" charset="-120"/>
              </a:rPr>
              <a:t>Load / save / migrate app state to localStorage</a:t>
            </a:r>
            <a:endParaRPr lang="en-US" sz="1400" dirty="0"/>
          </a:p>
        </p:txBody>
      </p:sp>
      <p:sp>
        <p:nvSpPr>
          <p:cNvPr id="17" name="Text 15"/>
          <p:cNvSpPr/>
          <p:nvPr/>
        </p:nvSpPr>
        <p:spPr>
          <a:xfrm>
            <a:off x="822960" y="5276088"/>
            <a:ext cx="2926080" cy="457200"/>
          </a:xfrm>
          <a:prstGeom prst="rect">
            <a:avLst/>
          </a:prstGeom>
          <a:noFill/>
          <a:ln/>
        </p:spPr>
        <p:txBody>
          <a:bodyPr wrap="square" rtlCol="0" anchor="ctr"/>
          <a:lstStyle/>
          <a:p>
            <a:pPr indent="0" marL="0">
              <a:buNone/>
            </a:pPr>
            <a:r>
              <a:rPr lang="en-US" sz="1500" b="1" dirty="0">
                <a:solidFill>
                  <a:srgbClr val="6C8CFF"/>
                </a:solidFill>
                <a:latin typeface="Consolas" pitchFamily="34" charset="0"/>
                <a:ea typeface="Consolas" pitchFamily="34" charset="-122"/>
                <a:cs typeface="Consolas" pitchFamily="34" charset="-120"/>
              </a:rPr>
              <a:t>src/ui/</a:t>
            </a:r>
            <a:endParaRPr lang="en-US" sz="1500" dirty="0"/>
          </a:p>
        </p:txBody>
      </p:sp>
      <p:sp>
        <p:nvSpPr>
          <p:cNvPr id="18" name="Text 16"/>
          <p:cNvSpPr/>
          <p:nvPr/>
        </p:nvSpPr>
        <p:spPr>
          <a:xfrm>
            <a:off x="3931920" y="5276088"/>
            <a:ext cx="7498080" cy="457200"/>
          </a:xfrm>
          <a:prstGeom prst="rect">
            <a:avLst/>
          </a:prstGeom>
          <a:noFill/>
          <a:ln/>
        </p:spPr>
        <p:txBody>
          <a:bodyPr wrap="square" rtlCol="0" anchor="ctr"/>
          <a:lstStyle/>
          <a:p>
            <a:pPr indent="0" marL="0">
              <a:buNone/>
            </a:pPr>
            <a:r>
              <a:rPr lang="en-US" sz="1400" dirty="0">
                <a:solidFill>
                  <a:srgbClr val="E8EBF2"/>
                </a:solidFill>
                <a:latin typeface="Calibri" pitchFamily="34" charset="0"/>
                <a:ea typeface="Calibri" pitchFamily="34" charset="-122"/>
                <a:cs typeface="Calibri" pitchFamily="34" charset="-120"/>
              </a:rPr>
              <a:t>schedule-app.js — the one DOM adapter wiring it all together</a:t>
            </a:r>
            <a:endParaRPr lang="en-US" sz="1400" dirty="0"/>
          </a:p>
        </p:txBody>
      </p:sp>
      <p:sp>
        <p:nvSpPr>
          <p:cNvPr id="19" name="Text 17"/>
          <p:cNvSpPr/>
          <p:nvPr/>
        </p:nvSpPr>
        <p:spPr>
          <a:xfrm>
            <a:off x="548640" y="5961888"/>
            <a:ext cx="11064240" cy="457200"/>
          </a:xfrm>
          <a:prstGeom prst="rect">
            <a:avLst/>
          </a:prstGeom>
          <a:noFill/>
          <a:ln/>
        </p:spPr>
        <p:txBody>
          <a:bodyPr wrap="square" rtlCol="0" anchor="ctr"/>
          <a:lstStyle/>
          <a:p>
            <a:pPr indent="0" marL="0">
              <a:buNone/>
            </a:pPr>
            <a:r>
              <a:rPr lang="en-US" sz="1350" i="1" dirty="0">
                <a:solidFill>
                  <a:srgbClr val="9AA5B8"/>
                </a:solidFill>
                <a:latin typeface="Calibri" pitchFamily="34" charset="0"/>
                <a:ea typeface="Calibri" pitchFamily="34" charset="-122"/>
                <a:cs typeface="Calibri" pitchFamily="34" charset="-120"/>
              </a:rPr>
              <a:t>Pure domain logic (gap merging, placement, fit diagnostics) is unit-tested independently of the DOM — npm test.</a:t>
            </a:r>
            <a:endParaRPr lang="en-US" sz="1350" dirty="0"/>
          </a:p>
        </p:txBody>
      </p:sp>
      <p:sp>
        <p:nvSpPr>
          <p:cNvPr id="20" name="Text 18"/>
          <p:cNvSpPr/>
          <p:nvPr/>
        </p:nvSpPr>
        <p:spPr>
          <a:xfrm>
            <a:off x="548640" y="6537960"/>
            <a:ext cx="3657600" cy="274320"/>
          </a:xfrm>
          <a:prstGeom prst="rect">
            <a:avLst/>
          </a:prstGeom>
          <a:noFill/>
          <a:ln/>
        </p:spPr>
        <p:txBody>
          <a:bodyPr wrap="square" rtlCol="0" anchor="ctr"/>
          <a:lstStyle/>
          <a:p>
            <a:pPr indent="0" marL="0">
              <a:buNone/>
            </a:pPr>
            <a:r>
              <a:rPr lang="en-US" sz="1000" dirty="0">
                <a:solidFill>
                  <a:srgbClr val="9AA5B8"/>
                </a:solidFill>
                <a:latin typeface="Calibri" pitchFamily="34" charset="0"/>
                <a:ea typeface="Calibri" pitchFamily="34" charset="-122"/>
                <a:cs typeface="Calibri" pitchFamily="34" charset="-120"/>
              </a:rPr>
              <a:t>Easy Timetable</a:t>
            </a:r>
            <a:endParaRPr lang="en-US" sz="1000" dirty="0"/>
          </a:p>
        </p:txBody>
      </p:sp>
      <p:sp>
        <p:nvSpPr>
          <p:cNvPr id="21" name="Text 19"/>
          <p:cNvSpPr/>
          <p:nvPr/>
        </p:nvSpPr>
        <p:spPr>
          <a:xfrm>
            <a:off x="11612880" y="6537960"/>
            <a:ext cx="365760" cy="274320"/>
          </a:xfrm>
          <a:prstGeom prst="rect">
            <a:avLst/>
          </a:prstGeom>
          <a:noFill/>
          <a:ln/>
        </p:spPr>
        <p:txBody>
          <a:bodyPr wrap="square" rtlCol="0" anchor="ctr"/>
          <a:lstStyle/>
          <a:p>
            <a:pPr algn="r" indent="0" marL="0">
              <a:buNone/>
            </a:pPr>
            <a:r>
              <a:rPr lang="en-US" sz="1000" dirty="0">
                <a:solidFill>
                  <a:srgbClr val="9AA5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826"/>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400" b="1" spc="200" kern="0" dirty="0">
                <a:solidFill>
                  <a:srgbClr val="5DD0B0"/>
                </a:solidFill>
                <a:latin typeface="Calibri" pitchFamily="34" charset="0"/>
                <a:ea typeface="Calibri" pitchFamily="34" charset="-122"/>
                <a:cs typeface="Calibri" pitchFamily="34" charset="-120"/>
              </a:rPr>
              <a:t>WHERE IT COULD GO NEXT</a:t>
            </a:r>
            <a:endParaRPr lang="en-US" sz="1400" dirty="0"/>
          </a:p>
        </p:txBody>
      </p:sp>
      <p:sp>
        <p:nvSpPr>
          <p:cNvPr id="3" name="Text 1"/>
          <p:cNvSpPr/>
          <p:nvPr/>
        </p:nvSpPr>
        <p:spPr>
          <a:xfrm>
            <a:off x="548640" y="685800"/>
            <a:ext cx="10972800" cy="822960"/>
          </a:xfrm>
          <a:prstGeom prst="rect">
            <a:avLst/>
          </a:prstGeom>
          <a:noFill/>
          <a:ln/>
        </p:spPr>
        <p:txBody>
          <a:bodyPr wrap="square" rtlCol="0" anchor="ctr"/>
          <a:lstStyle/>
          <a:p>
            <a:pPr indent="0" marL="0">
              <a:buNone/>
            </a:pPr>
            <a:r>
              <a:rPr lang="en-US" sz="3400" b="1" dirty="0">
                <a:solidFill>
                  <a:srgbClr val="E8EBF2"/>
                </a:solidFill>
                <a:latin typeface="Calibri" pitchFamily="34" charset="0"/>
                <a:ea typeface="Calibri" pitchFamily="34" charset="-122"/>
                <a:cs typeface="Calibri" pitchFamily="34" charset="-120"/>
              </a:rPr>
              <a:t>Expansion possibilities</a:t>
            </a:r>
            <a:endParaRPr lang="en-US" sz="3400" dirty="0"/>
          </a:p>
        </p:txBody>
      </p:sp>
      <p:sp>
        <p:nvSpPr>
          <p:cNvPr id="4" name="Text 2"/>
          <p:cNvSpPr/>
          <p:nvPr/>
        </p:nvSpPr>
        <p:spPr>
          <a:xfrm>
            <a:off x="548640" y="1828800"/>
            <a:ext cx="5394960" cy="3931920"/>
          </a:xfrm>
          <a:prstGeom prst="rect">
            <a:avLst/>
          </a:prstGeom>
          <a:noFill/>
          <a:ln/>
        </p:spPr>
        <p:txBody>
          <a:bodyPr wrap="square" rtlCol="0" anchor="t"/>
          <a:lstStyle/>
          <a:p>
            <a:pPr marL="342900" indent="-342900">
              <a:spcAft>
                <a:spcPts val="1400"/>
              </a:spcAft>
              <a:buSzPct val="100000"/>
              <a:buChar char="•"/>
            </a:pPr>
            <a:r>
              <a:rPr lang="en-US" sz="1500" dirty="0">
                <a:solidFill>
                  <a:srgbClr val="E8EBF2"/>
                </a:solidFill>
                <a:latin typeface="Calibri" pitchFamily="34" charset="0"/>
                <a:ea typeface="Calibri" pitchFamily="34" charset="-122"/>
                <a:cs typeface="Calibri" pitchFamily="34" charset="-120"/>
              </a:rPr>
              <a:t>Calendar sync — two-way with Google/Outlook, not just one-way .ics export</a:t>
            </a:r>
            <a:endParaRPr lang="en-US" sz="1500" dirty="0"/>
          </a:p>
          <a:p>
            <a:pPr marL="342900" indent="-342900">
              <a:spcAft>
                <a:spcPts val="1400"/>
              </a:spcAft>
              <a:buSzPct val="100000"/>
              <a:buChar char="•"/>
            </a:pPr>
            <a:r>
              <a:rPr lang="en-US" sz="1500" dirty="0">
                <a:solidFill>
                  <a:srgbClr val="E8EBF2"/>
                </a:solidFill>
                <a:latin typeface="Calibri" pitchFamily="34" charset="0"/>
                <a:ea typeface="Calibri" pitchFamily="34" charset="-122"/>
                <a:cs typeface="Calibri" pitchFamily="34" charset="-120"/>
              </a:rPr>
              <a:t>Recurring tasks — repeat weekly instead of re-adding each week</a:t>
            </a:r>
            <a:endParaRPr lang="en-US" sz="1500" dirty="0"/>
          </a:p>
          <a:p>
            <a:pPr marL="342900" indent="-342900">
              <a:spcAft>
                <a:spcPts val="1400"/>
              </a:spcAft>
              <a:buSzPct val="100000"/>
              <a:buChar char="•"/>
            </a:pPr>
            <a:r>
              <a:rPr lang="en-US" sz="1500" dirty="0">
                <a:solidFill>
                  <a:srgbClr val="E8EBF2"/>
                </a:solidFill>
                <a:latin typeface="Calibri" pitchFamily="34" charset="0"/>
                <a:ea typeface="Calibri" pitchFamily="34" charset="-122"/>
                <a:cs typeface="Calibri" pitchFamily="34" charset="-120"/>
              </a:rPr>
              <a:t>Smarter auto-scheduling — learn from past edits/undo patterns</a:t>
            </a:r>
            <a:endParaRPr lang="en-US" sz="1500" dirty="0"/>
          </a:p>
        </p:txBody>
      </p:sp>
      <p:sp>
        <p:nvSpPr>
          <p:cNvPr id="5" name="Text 3"/>
          <p:cNvSpPr/>
          <p:nvPr/>
        </p:nvSpPr>
        <p:spPr>
          <a:xfrm>
            <a:off x="6217920" y="1828800"/>
            <a:ext cx="5394960" cy="3931920"/>
          </a:xfrm>
          <a:prstGeom prst="rect">
            <a:avLst/>
          </a:prstGeom>
          <a:noFill/>
          <a:ln/>
        </p:spPr>
        <p:txBody>
          <a:bodyPr wrap="square" rtlCol="0" anchor="t"/>
          <a:lstStyle/>
          <a:p>
            <a:pPr marL="342900" indent="-342900">
              <a:spcAft>
                <a:spcPts val="1400"/>
              </a:spcAft>
              <a:buSzPct val="100000"/>
              <a:buChar char="•"/>
            </a:pPr>
            <a:r>
              <a:rPr lang="en-US" sz="1500" dirty="0">
                <a:solidFill>
                  <a:srgbClr val="E8EBF2"/>
                </a:solidFill>
                <a:latin typeface="Calibri" pitchFamily="34" charset="0"/>
                <a:ea typeface="Calibri" pitchFamily="34" charset="-122"/>
                <a:cs typeface="Calibri" pitchFamily="34" charset="-120"/>
              </a:rPr>
              <a:t>Installable PWA — add to home screen, richer offline support</a:t>
            </a:r>
            <a:endParaRPr lang="en-US" sz="1500" dirty="0"/>
          </a:p>
          <a:p>
            <a:pPr marL="342900" indent="-342900">
              <a:spcAft>
                <a:spcPts val="1400"/>
              </a:spcAft>
              <a:buSzPct val="100000"/>
              <a:buChar char="•"/>
            </a:pPr>
            <a:r>
              <a:rPr lang="en-US" sz="1500" dirty="0">
                <a:solidFill>
                  <a:srgbClr val="E8EBF2"/>
                </a:solidFill>
                <a:latin typeface="Calibri" pitchFamily="34" charset="0"/>
                <a:ea typeface="Calibri" pitchFamily="34" charset="-122"/>
                <a:cs typeface="Calibri" pitchFamily="34" charset="-120"/>
              </a:rPr>
              <a:t>Shareable read-only week links for study groups / teams</a:t>
            </a:r>
            <a:endParaRPr lang="en-US" sz="1500" dirty="0"/>
          </a:p>
          <a:p>
            <a:pPr marL="342900" indent="-342900">
              <a:spcAft>
                <a:spcPts val="1400"/>
              </a:spcAft>
              <a:buSzPct val="100000"/>
              <a:buChar char="•"/>
            </a:pPr>
            <a:r>
              <a:rPr lang="en-US" sz="1500" dirty="0">
                <a:solidFill>
                  <a:srgbClr val="E8EBF2"/>
                </a:solidFill>
                <a:latin typeface="Calibri" pitchFamily="34" charset="0"/>
                <a:ea typeface="Calibri" pitchFamily="34" charset="-122"/>
                <a:cs typeface="Calibri" pitchFamily="34" charset="-120"/>
              </a:rPr>
              <a:t>Drag-to-resize task blocks directly on the preview grid</a:t>
            </a:r>
            <a:endParaRPr lang="en-US" sz="1500" dirty="0"/>
          </a:p>
        </p:txBody>
      </p:sp>
      <p:sp>
        <p:nvSpPr>
          <p:cNvPr id="6" name="Text 4"/>
          <p:cNvSpPr/>
          <p:nvPr/>
        </p:nvSpPr>
        <p:spPr>
          <a:xfrm>
            <a:off x="548640" y="6537960"/>
            <a:ext cx="3657600" cy="274320"/>
          </a:xfrm>
          <a:prstGeom prst="rect">
            <a:avLst/>
          </a:prstGeom>
          <a:noFill/>
          <a:ln/>
        </p:spPr>
        <p:txBody>
          <a:bodyPr wrap="square" rtlCol="0" anchor="ctr"/>
          <a:lstStyle/>
          <a:p>
            <a:pPr indent="0" marL="0">
              <a:buNone/>
            </a:pPr>
            <a:r>
              <a:rPr lang="en-US" sz="1000" dirty="0">
                <a:solidFill>
                  <a:srgbClr val="9AA5B8"/>
                </a:solidFill>
                <a:latin typeface="Calibri" pitchFamily="34" charset="0"/>
                <a:ea typeface="Calibri" pitchFamily="34" charset="-122"/>
                <a:cs typeface="Calibri" pitchFamily="34" charset="-120"/>
              </a:rPr>
              <a:t>Easy Timetable</a:t>
            </a:r>
            <a:endParaRPr lang="en-US" sz="1000" dirty="0"/>
          </a:p>
        </p:txBody>
      </p:sp>
      <p:sp>
        <p:nvSpPr>
          <p:cNvPr id="7" name="Text 5"/>
          <p:cNvSpPr/>
          <p:nvPr/>
        </p:nvSpPr>
        <p:spPr>
          <a:xfrm>
            <a:off x="11612880" y="6537960"/>
            <a:ext cx="365760" cy="274320"/>
          </a:xfrm>
          <a:prstGeom prst="rect">
            <a:avLst/>
          </a:prstGeom>
          <a:noFill/>
          <a:ln/>
        </p:spPr>
        <p:txBody>
          <a:bodyPr wrap="square" rtlCol="0" anchor="ctr"/>
          <a:lstStyle/>
          <a:p>
            <a:pPr algn="r" indent="0" marL="0">
              <a:buNone/>
            </a:pPr>
            <a:r>
              <a:rPr lang="en-US" sz="1000" dirty="0">
                <a:solidFill>
                  <a:srgbClr val="9AA5B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82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1826"/>
          </a:solidFill>
          <a:ln/>
        </p:spPr>
      </p:sp>
      <p:sp>
        <p:nvSpPr>
          <p:cNvPr id="3" name="Shape 1"/>
          <p:cNvSpPr/>
          <p:nvPr/>
        </p:nvSpPr>
        <p:spPr>
          <a:xfrm>
            <a:off x="0" y="3246120"/>
            <a:ext cx="12191695" cy="54864"/>
          </a:xfrm>
          <a:prstGeom prst="rect">
            <a:avLst/>
          </a:prstGeom>
          <a:solidFill>
            <a:srgbClr val="5DD0B0"/>
          </a:solidFill>
          <a:ln/>
        </p:spPr>
      </p:sp>
      <p:sp>
        <p:nvSpPr>
          <p:cNvPr id="4" name="Text 2"/>
          <p:cNvSpPr/>
          <p:nvPr/>
        </p:nvSpPr>
        <p:spPr>
          <a:xfrm>
            <a:off x="731520" y="2194560"/>
            <a:ext cx="10698480" cy="822960"/>
          </a:xfrm>
          <a:prstGeom prst="rect">
            <a:avLst/>
          </a:prstGeom>
          <a:noFill/>
          <a:ln/>
        </p:spPr>
        <p:txBody>
          <a:bodyPr wrap="square" rtlCol="0" anchor="ctr"/>
          <a:lstStyle/>
          <a:p>
            <a:pPr indent="0" marL="0">
              <a:buNone/>
            </a:pPr>
            <a:r>
              <a:rPr lang="en-US" sz="4000" b="1" dirty="0">
                <a:solidFill>
                  <a:srgbClr val="E8EBF2"/>
                </a:solidFill>
                <a:latin typeface="Calibri" pitchFamily="34" charset="0"/>
                <a:ea typeface="Calibri" pitchFamily="34" charset="-122"/>
                <a:cs typeface="Calibri" pitchFamily="34" charset="-120"/>
              </a:rPr>
              <a:t>Try it locally</a:t>
            </a:r>
            <a:endParaRPr lang="en-US" sz="4000" dirty="0"/>
          </a:p>
        </p:txBody>
      </p:sp>
      <p:sp>
        <p:nvSpPr>
          <p:cNvPr id="5" name="Text 3"/>
          <p:cNvSpPr/>
          <p:nvPr/>
        </p:nvSpPr>
        <p:spPr>
          <a:xfrm>
            <a:off x="731520" y="3429000"/>
            <a:ext cx="10698480" cy="640080"/>
          </a:xfrm>
          <a:prstGeom prst="rect">
            <a:avLst/>
          </a:prstGeom>
          <a:noFill/>
          <a:ln/>
        </p:spPr>
        <p:txBody>
          <a:bodyPr wrap="square" rtlCol="0" anchor="ctr"/>
          <a:lstStyle/>
          <a:p>
            <a:pPr indent="0" marL="0">
              <a:buNone/>
            </a:pPr>
            <a:r>
              <a:rPr lang="en-US" sz="2400" dirty="0">
                <a:solidFill>
                  <a:srgbClr val="6C8CFF"/>
                </a:solidFill>
                <a:latin typeface="Consolas" pitchFamily="34" charset="0"/>
                <a:ea typeface="Consolas" pitchFamily="34" charset="-122"/>
                <a:cs typeface="Consolas" pitchFamily="34" charset="-120"/>
              </a:rPr>
              <a:t>npm install  →  npm start</a:t>
            </a:r>
            <a:endParaRPr lang="en-US" sz="2400" dirty="0"/>
          </a:p>
        </p:txBody>
      </p:sp>
      <p:sp>
        <p:nvSpPr>
          <p:cNvPr id="6" name="Text 4"/>
          <p:cNvSpPr/>
          <p:nvPr/>
        </p:nvSpPr>
        <p:spPr>
          <a:xfrm>
            <a:off x="731520" y="4206240"/>
            <a:ext cx="10698480" cy="548640"/>
          </a:xfrm>
          <a:prstGeom prst="rect">
            <a:avLst/>
          </a:prstGeom>
          <a:noFill/>
          <a:ln/>
        </p:spPr>
        <p:txBody>
          <a:bodyPr wrap="square" rtlCol="0" anchor="ctr"/>
          <a:lstStyle/>
          <a:p>
            <a:pPr indent="0" marL="0">
              <a:buNone/>
            </a:pPr>
            <a:r>
              <a:rPr lang="en-US" sz="1600" dirty="0">
                <a:solidFill>
                  <a:srgbClr val="9AA5B8"/>
                </a:solidFill>
                <a:latin typeface="Calibri" pitchFamily="34" charset="0"/>
                <a:ea typeface="Calibri" pitchFamily="34" charset="-122"/>
                <a:cs typeface="Calibri" pitchFamily="34" charset="-120"/>
              </a:rPr>
              <a:t>No account. No backend. Your week, planned around your actual free time.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2026-07-04T13:51:26Z</dcterms:created>
  <dcterms:modified xsi:type="dcterms:W3CDTF">2026-07-04T13:51:26Z</dcterms:modified>
</cp:coreProperties>
</file>